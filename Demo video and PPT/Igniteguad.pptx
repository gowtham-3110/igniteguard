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111826"/>
                </a:solidFill>
                <a:latin typeface="Gadugi"/>
                <a:cs typeface="Gadug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111826"/>
                </a:solidFill>
                <a:latin typeface="Gadugi"/>
                <a:cs typeface="Gadug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74191"/>
            <a:ext cx="10689590" cy="802005"/>
          </a:xfrm>
          <a:custGeom>
            <a:avLst/>
            <a:gdLst/>
            <a:ahLst/>
            <a:cxnLst/>
            <a:rect l="l" t="t" r="r" b="b"/>
            <a:pathLst>
              <a:path w="10689590" h="802005">
                <a:moveTo>
                  <a:pt x="10689335" y="801624"/>
                </a:moveTo>
                <a:lnTo>
                  <a:pt x="0" y="801624"/>
                </a:lnTo>
                <a:lnTo>
                  <a:pt x="0" y="0"/>
                </a:lnTo>
                <a:lnTo>
                  <a:pt x="10689335" y="0"/>
                </a:lnTo>
                <a:lnTo>
                  <a:pt x="10689335" y="801624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8815" y="799612"/>
            <a:ext cx="9196705" cy="988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8878" y="3209270"/>
            <a:ext cx="4371340" cy="2257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111826"/>
                </a:solidFill>
                <a:latin typeface="Gadugi"/>
                <a:cs typeface="Gadug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4191"/>
            <a:ext cx="10689590" cy="963294"/>
          </a:xfrm>
          <a:custGeom>
            <a:avLst/>
            <a:gdLst/>
            <a:ahLst/>
            <a:cxnLst/>
            <a:rect l="l" t="t" r="r" b="b"/>
            <a:pathLst>
              <a:path w="10689590" h="963294">
                <a:moveTo>
                  <a:pt x="10689335" y="963167"/>
                </a:moveTo>
                <a:lnTo>
                  <a:pt x="0" y="963167"/>
                </a:lnTo>
                <a:lnTo>
                  <a:pt x="0" y="0"/>
                </a:lnTo>
                <a:lnTo>
                  <a:pt x="10689335" y="0"/>
                </a:lnTo>
                <a:lnTo>
                  <a:pt x="10689335" y="963167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dirty="0" sz="3150"/>
              <a:t>FIRE</a:t>
            </a:r>
            <a:r>
              <a:rPr dirty="0" sz="3150" spc="-25"/>
              <a:t> </a:t>
            </a:r>
            <a:r>
              <a:rPr dirty="0" sz="3150"/>
              <a:t>SAFETY</a:t>
            </a:r>
            <a:r>
              <a:rPr dirty="0" sz="3150" spc="-5"/>
              <a:t> </a:t>
            </a:r>
            <a:r>
              <a:rPr dirty="0" sz="3150"/>
              <a:t>EQUIPMENT</a:t>
            </a:r>
            <a:r>
              <a:rPr dirty="0" sz="3150" spc="-5"/>
              <a:t> </a:t>
            </a:r>
            <a:r>
              <a:rPr dirty="0" sz="3150"/>
              <a:t>INSPECTION</a:t>
            </a:r>
            <a:r>
              <a:rPr dirty="0" sz="3150" spc="-15"/>
              <a:t> </a:t>
            </a:r>
            <a:r>
              <a:rPr dirty="0" sz="3150"/>
              <a:t>&amp;</a:t>
            </a:r>
            <a:r>
              <a:rPr dirty="0" sz="3150" spc="-15"/>
              <a:t> </a:t>
            </a:r>
            <a:r>
              <a:rPr dirty="0" sz="3150" spc="-10"/>
              <a:t>EXPIRY REGISTER</a:t>
            </a:r>
            <a:endParaRPr sz="3150"/>
          </a:p>
        </p:txBody>
      </p:sp>
      <p:sp>
        <p:nvSpPr>
          <p:cNvPr id="4" name="object 4"/>
          <p:cNvSpPr/>
          <p:nvPr/>
        </p:nvSpPr>
        <p:spPr>
          <a:xfrm>
            <a:off x="400812" y="2695956"/>
            <a:ext cx="120650" cy="2806065"/>
          </a:xfrm>
          <a:custGeom>
            <a:avLst/>
            <a:gdLst/>
            <a:ahLst/>
            <a:cxnLst/>
            <a:rect l="l" t="t" r="r" b="b"/>
            <a:pathLst>
              <a:path w="120650" h="2806065">
                <a:moveTo>
                  <a:pt x="120395" y="2805683"/>
                </a:moveTo>
                <a:lnTo>
                  <a:pt x="0" y="2805683"/>
                </a:lnTo>
                <a:lnTo>
                  <a:pt x="0" y="0"/>
                </a:lnTo>
                <a:lnTo>
                  <a:pt x="120395" y="0"/>
                </a:lnTo>
                <a:lnTo>
                  <a:pt x="120395" y="2805683"/>
                </a:lnTo>
                <a:close/>
              </a:path>
            </a:pathLst>
          </a:custGeom>
          <a:solidFill>
            <a:srgbClr val="24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9608" y="2748126"/>
            <a:ext cx="3716020" cy="203390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Presented</a:t>
            </a:r>
            <a:r>
              <a:rPr dirty="0" sz="1200" spc="4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 spc="-25">
                <a:solidFill>
                  <a:srgbClr val="6B7280"/>
                </a:solidFill>
                <a:latin typeface="Segoe UI"/>
                <a:cs typeface="Segoe UI"/>
              </a:rPr>
              <a:t>By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2800" spc="-10" b="1">
                <a:solidFill>
                  <a:srgbClr val="111826"/>
                </a:solidFill>
                <a:latin typeface="Gadugi"/>
                <a:cs typeface="Gadugi"/>
              </a:rPr>
              <a:t>Gowtham</a:t>
            </a:r>
            <a:endParaRPr sz="2800">
              <a:latin typeface="Gadugi"/>
              <a:cs typeface="Gadugi"/>
            </a:endParaRPr>
          </a:p>
          <a:p>
            <a:pPr marL="12700" marR="628650">
              <a:lnSpc>
                <a:spcPct val="100000"/>
              </a:lnSpc>
              <a:spcBef>
                <a:spcPts val="1040"/>
              </a:spcBef>
            </a:pP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Registration:</a:t>
            </a:r>
            <a:r>
              <a:rPr dirty="0" sz="1400" spc="-8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6B7280"/>
                </a:solidFill>
                <a:latin typeface="Segoe UI"/>
                <a:cs typeface="Segoe UI"/>
              </a:rPr>
              <a:t>411723205012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Department</a:t>
            </a:r>
            <a:r>
              <a:rPr dirty="0" sz="1400" spc="-4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of</a:t>
            </a:r>
            <a:r>
              <a:rPr dirty="0" sz="1400" spc="-4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Information</a:t>
            </a:r>
            <a:r>
              <a:rPr dirty="0" sz="1400" spc="-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6B7280"/>
                </a:solidFill>
                <a:latin typeface="Segoe UI"/>
                <a:cs typeface="Segoe UI"/>
              </a:rPr>
              <a:t>Technology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400" spc="-85">
                <a:solidFill>
                  <a:srgbClr val="6B7280"/>
                </a:solidFill>
                <a:latin typeface="Segoe UI"/>
                <a:cs typeface="Segoe UI"/>
              </a:rPr>
              <a:t>P.S.V.P.</a:t>
            </a:r>
            <a:r>
              <a:rPr dirty="0" sz="1400" spc="-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Engineering</a:t>
            </a:r>
            <a:r>
              <a:rPr dirty="0" sz="1400" spc="-2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6B7280"/>
                </a:solidFill>
                <a:latin typeface="Segoe UI"/>
                <a:cs typeface="Segoe UI"/>
              </a:rPr>
              <a:t>College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SIH</a:t>
            </a:r>
            <a:r>
              <a:rPr dirty="0" sz="1400" spc="-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2026</a:t>
            </a:r>
            <a:r>
              <a:rPr dirty="0" sz="1400" spc="-2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—</a:t>
            </a:r>
            <a:r>
              <a:rPr dirty="0" sz="1400" spc="-3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Internal</a:t>
            </a:r>
            <a:r>
              <a:rPr dirty="0" sz="1400" spc="-2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Practical</a:t>
            </a:r>
            <a:r>
              <a:rPr dirty="0" sz="1400" spc="-2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Assessment</a:t>
            </a:r>
            <a:r>
              <a:rPr dirty="0" sz="1400" spc="-4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6B7280"/>
                </a:solidFill>
                <a:latin typeface="Segoe UI"/>
                <a:cs typeface="Segoe UI"/>
              </a:rPr>
              <a:t>(Easy Level)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2892" y="2766060"/>
            <a:ext cx="4409440" cy="2806065"/>
          </a:xfrm>
          <a:prstGeom prst="rect">
            <a:avLst/>
          </a:prstGeom>
          <a:solidFill>
            <a:srgbClr val="F2F4F6"/>
          </a:solidFill>
        </p:spPr>
        <p:txBody>
          <a:bodyPr wrap="square" lIns="0" tIns="203200" rIns="0" bIns="0" rtlCol="0" vert="horz">
            <a:spAutoFit/>
          </a:bodyPr>
          <a:lstStyle/>
          <a:p>
            <a:pPr marL="319405">
              <a:lnSpc>
                <a:spcPct val="100000"/>
              </a:lnSpc>
              <a:spcBef>
                <a:spcPts val="1600"/>
              </a:spcBef>
            </a:pPr>
            <a:r>
              <a:rPr dirty="0" sz="1400" spc="-20">
                <a:solidFill>
                  <a:srgbClr val="6B7280"/>
                </a:solidFill>
                <a:latin typeface="Segoe UI"/>
                <a:cs typeface="Segoe UI"/>
              </a:rPr>
              <a:t>Technology</a:t>
            </a:r>
            <a:r>
              <a:rPr dirty="0" sz="1400" spc="-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 spc="-20">
                <a:solidFill>
                  <a:srgbClr val="6B7280"/>
                </a:solidFill>
                <a:latin typeface="Segoe UI"/>
                <a:cs typeface="Segoe UI"/>
              </a:rPr>
              <a:t>Stack</a:t>
            </a:r>
            <a:endParaRPr sz="1400">
              <a:latin typeface="Segoe UI"/>
              <a:cs typeface="Segoe UI"/>
            </a:endParaRPr>
          </a:p>
          <a:p>
            <a:pPr marL="319405" marR="1076960">
              <a:lnSpc>
                <a:spcPct val="101899"/>
              </a:lnSpc>
              <a:spcBef>
                <a:spcPts val="1470"/>
              </a:spcBef>
            </a:pPr>
            <a:r>
              <a:rPr dirty="0" sz="1550">
                <a:solidFill>
                  <a:srgbClr val="111826"/>
                </a:solidFill>
                <a:latin typeface="Segoe UI"/>
                <a:cs typeface="Segoe UI"/>
              </a:rPr>
              <a:t>Python</a:t>
            </a:r>
            <a:r>
              <a:rPr dirty="0" sz="1550" spc="484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550">
                <a:solidFill>
                  <a:srgbClr val="111826"/>
                </a:solidFill>
                <a:latin typeface="Segoe UI"/>
                <a:cs typeface="Segoe UI"/>
              </a:rPr>
              <a:t>•</a:t>
            </a:r>
            <a:r>
              <a:rPr dirty="0" sz="1550" spc="4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550">
                <a:solidFill>
                  <a:srgbClr val="111826"/>
                </a:solidFill>
                <a:latin typeface="Segoe UI"/>
                <a:cs typeface="Segoe UI"/>
              </a:rPr>
              <a:t>Flask</a:t>
            </a:r>
            <a:r>
              <a:rPr dirty="0" sz="1550" spc="4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550">
                <a:solidFill>
                  <a:srgbClr val="111826"/>
                </a:solidFill>
                <a:latin typeface="Segoe UI"/>
                <a:cs typeface="Segoe UI"/>
              </a:rPr>
              <a:t>•</a:t>
            </a:r>
            <a:r>
              <a:rPr dirty="0" sz="1550" spc="49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550">
                <a:solidFill>
                  <a:srgbClr val="111826"/>
                </a:solidFill>
                <a:latin typeface="Segoe UI"/>
                <a:cs typeface="Segoe UI"/>
              </a:rPr>
              <a:t>HTML5/CSS3</a:t>
            </a:r>
            <a:r>
              <a:rPr dirty="0" sz="1550" spc="484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550" spc="-50">
                <a:solidFill>
                  <a:srgbClr val="111826"/>
                </a:solidFill>
                <a:latin typeface="Segoe UI"/>
                <a:cs typeface="Segoe UI"/>
              </a:rPr>
              <a:t>• </a:t>
            </a:r>
            <a:r>
              <a:rPr dirty="0" sz="1550" spc="-10">
                <a:solidFill>
                  <a:srgbClr val="111826"/>
                </a:solidFill>
                <a:latin typeface="Segoe UI"/>
                <a:cs typeface="Segoe UI"/>
              </a:rPr>
              <a:t>JavaScript</a:t>
            </a:r>
            <a:endParaRPr sz="1550">
              <a:latin typeface="Segoe UI"/>
              <a:cs typeface="Segoe UI"/>
            </a:endParaRPr>
          </a:p>
          <a:p>
            <a:pPr marL="319405">
              <a:lnSpc>
                <a:spcPct val="100000"/>
              </a:lnSpc>
              <a:spcBef>
                <a:spcPts val="35"/>
              </a:spcBef>
            </a:pPr>
            <a:r>
              <a:rPr dirty="0" sz="1550">
                <a:solidFill>
                  <a:srgbClr val="111826"/>
                </a:solidFill>
                <a:latin typeface="Segoe UI"/>
                <a:cs typeface="Segoe UI"/>
              </a:rPr>
              <a:t>SQLite</a:t>
            </a:r>
            <a:r>
              <a:rPr dirty="0" sz="1550" spc="4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550">
                <a:solidFill>
                  <a:srgbClr val="111826"/>
                </a:solidFill>
                <a:latin typeface="Segoe UI"/>
                <a:cs typeface="Segoe UI"/>
              </a:rPr>
              <a:t>•</a:t>
            </a:r>
            <a:r>
              <a:rPr dirty="0" sz="1550" spc="4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550">
                <a:solidFill>
                  <a:srgbClr val="111826"/>
                </a:solidFill>
                <a:latin typeface="Segoe UI"/>
                <a:cs typeface="Segoe UI"/>
              </a:rPr>
              <a:t>scikit-learn</a:t>
            </a:r>
            <a:r>
              <a:rPr dirty="0" sz="1550" spc="484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550">
                <a:solidFill>
                  <a:srgbClr val="111826"/>
                </a:solidFill>
                <a:latin typeface="Segoe UI"/>
                <a:cs typeface="Segoe UI"/>
              </a:rPr>
              <a:t>•</a:t>
            </a:r>
            <a:r>
              <a:rPr dirty="0" sz="1550" spc="4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550" spc="-10">
                <a:solidFill>
                  <a:srgbClr val="111826"/>
                </a:solidFill>
                <a:latin typeface="Segoe UI"/>
                <a:cs typeface="Segoe UI"/>
              </a:rPr>
              <a:t>Jinja2</a:t>
            </a:r>
            <a:endParaRPr sz="15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34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dirty="0" spc="-25"/>
              <a:t> </a:t>
            </a:r>
            <a:r>
              <a:rPr dirty="0"/>
              <a:t>PROBLEM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WHO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15"/>
              <a:t> </a:t>
            </a:r>
            <a:r>
              <a:rPr dirty="0" spc="-10"/>
              <a:t>AFFECTED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0812" y="1816608"/>
            <a:ext cx="9621520" cy="4730750"/>
            <a:chOff x="400812" y="1816608"/>
            <a:chExt cx="9621520" cy="4730750"/>
          </a:xfrm>
        </p:grpSpPr>
        <p:sp>
          <p:nvSpPr>
            <p:cNvPr id="4" name="object 4"/>
            <p:cNvSpPr/>
            <p:nvPr/>
          </p:nvSpPr>
          <p:spPr>
            <a:xfrm>
              <a:off x="400812" y="1816608"/>
              <a:ext cx="81280" cy="4008120"/>
            </a:xfrm>
            <a:custGeom>
              <a:avLst/>
              <a:gdLst/>
              <a:ahLst/>
              <a:cxnLst/>
              <a:rect l="l" t="t" r="r" b="b"/>
              <a:pathLst>
                <a:path w="81279" h="4008120">
                  <a:moveTo>
                    <a:pt x="0" y="4008120"/>
                  </a:moveTo>
                  <a:lnTo>
                    <a:pt x="80771" y="4008120"/>
                  </a:lnTo>
                  <a:lnTo>
                    <a:pt x="80771" y="0"/>
                  </a:lnTo>
                  <a:lnTo>
                    <a:pt x="0" y="0"/>
                  </a:lnTo>
                  <a:lnTo>
                    <a:pt x="0" y="4008120"/>
                  </a:lnTo>
                  <a:close/>
                </a:path>
              </a:pathLst>
            </a:custGeom>
            <a:solidFill>
              <a:srgbClr val="DB26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612892" y="1816608"/>
              <a:ext cx="79375" cy="4008120"/>
            </a:xfrm>
            <a:custGeom>
              <a:avLst/>
              <a:gdLst/>
              <a:ahLst/>
              <a:cxnLst/>
              <a:rect l="l" t="t" r="r" b="b"/>
              <a:pathLst>
                <a:path w="79375" h="4008120">
                  <a:moveTo>
                    <a:pt x="0" y="4008120"/>
                  </a:moveTo>
                  <a:lnTo>
                    <a:pt x="79247" y="4008120"/>
                  </a:lnTo>
                  <a:lnTo>
                    <a:pt x="79247" y="0"/>
                  </a:lnTo>
                  <a:lnTo>
                    <a:pt x="0" y="0"/>
                  </a:lnTo>
                  <a:lnTo>
                    <a:pt x="0" y="400812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00812" y="5824728"/>
              <a:ext cx="9621520" cy="722630"/>
            </a:xfrm>
            <a:custGeom>
              <a:avLst/>
              <a:gdLst/>
              <a:ahLst/>
              <a:cxnLst/>
              <a:rect l="l" t="t" r="r" b="b"/>
              <a:pathLst>
                <a:path w="9621520" h="722629">
                  <a:moveTo>
                    <a:pt x="9621012" y="722375"/>
                  </a:moveTo>
                  <a:lnTo>
                    <a:pt x="0" y="722375"/>
                  </a:lnTo>
                  <a:lnTo>
                    <a:pt x="0" y="0"/>
                  </a:lnTo>
                  <a:lnTo>
                    <a:pt x="9621012" y="0"/>
                  </a:lnTo>
                  <a:lnTo>
                    <a:pt x="9621012" y="722375"/>
                  </a:lnTo>
                  <a:close/>
                </a:path>
              </a:pathLst>
            </a:custGeom>
            <a:solidFill>
              <a:srgbClr val="F2F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09637" y="1846434"/>
            <a:ext cx="4238625" cy="31788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11826"/>
                </a:solidFill>
                <a:latin typeface="Gadugi"/>
                <a:cs typeface="Gadugi"/>
              </a:rPr>
              <a:t>The</a:t>
            </a:r>
            <a:r>
              <a:rPr dirty="0" sz="1900" spc="35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900" spc="-10" b="1">
                <a:solidFill>
                  <a:srgbClr val="111826"/>
                </a:solidFill>
                <a:latin typeface="Gadugi"/>
                <a:cs typeface="Gadugi"/>
              </a:rPr>
              <a:t>Problem</a:t>
            </a:r>
            <a:endParaRPr sz="1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!</a:t>
            </a:r>
            <a:r>
              <a:rPr dirty="0" sz="1300" spc="3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Paper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tags</a:t>
            </a:r>
            <a:r>
              <a:rPr dirty="0" sz="1300" spc="-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are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the only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record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of last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 inspection</a:t>
            </a:r>
            <a:endParaRPr sz="13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!</a:t>
            </a:r>
            <a:r>
              <a:rPr dirty="0" sz="1300" spc="3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No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central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list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exists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to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track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all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11826"/>
                </a:solidFill>
                <a:latin typeface="Segoe UI"/>
                <a:cs typeface="Segoe UI"/>
              </a:rPr>
              <a:t>units</a:t>
            </a:r>
            <a:endParaRPr sz="1300">
              <a:latin typeface="Segoe UI"/>
              <a:cs typeface="Segoe UI"/>
            </a:endParaRPr>
          </a:p>
          <a:p>
            <a:pPr marL="12700" marR="45720">
              <a:lnSpc>
                <a:spcPct val="101499"/>
              </a:lnSpc>
              <a:spcBef>
                <a:spcPts val="865"/>
              </a:spcBef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!</a:t>
            </a:r>
            <a:r>
              <a:rPr dirty="0" sz="1300" spc="3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Expired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units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found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only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during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audits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—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or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when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11826"/>
                </a:solidFill>
                <a:latin typeface="Segoe UI"/>
                <a:cs typeface="Segoe UI"/>
              </a:rPr>
              <a:t>they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fail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in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 real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11826"/>
                </a:solidFill>
                <a:latin typeface="Segoe UI"/>
                <a:cs typeface="Segoe UI"/>
              </a:rPr>
              <a:t>fire</a:t>
            </a:r>
            <a:endParaRPr sz="1300">
              <a:latin typeface="Segoe UI"/>
              <a:cs typeface="Segoe UI"/>
            </a:endParaRPr>
          </a:p>
          <a:p>
            <a:pPr marL="12700" marR="5080">
              <a:lnSpc>
                <a:spcPct val="101499"/>
              </a:lnSpc>
              <a:spcBef>
                <a:spcPts val="865"/>
              </a:spcBef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!</a:t>
            </a:r>
            <a:r>
              <a:rPr dirty="0" sz="1300" spc="3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Safety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officers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must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physically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walk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every</a:t>
            </a:r>
            <a:r>
              <a:rPr dirty="0" sz="13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floor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to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check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paper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11826"/>
                </a:solidFill>
                <a:latin typeface="Segoe UI"/>
                <a:cs typeface="Segoe UI"/>
              </a:rPr>
              <a:t>tags</a:t>
            </a:r>
            <a:endParaRPr sz="13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!</a:t>
            </a:r>
            <a:r>
              <a:rPr dirty="0" sz="1300" spc="3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Paper tags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fade, 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tear,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or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fall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5">
                <a:solidFill>
                  <a:srgbClr val="111826"/>
                </a:solidFill>
                <a:latin typeface="Segoe UI"/>
                <a:cs typeface="Segoe UI"/>
              </a:rPr>
              <a:t>off</a:t>
            </a:r>
            <a:endParaRPr sz="13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!</a:t>
            </a:r>
            <a:r>
              <a:rPr dirty="0" sz="1300" spc="3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No</a:t>
            </a:r>
            <a:r>
              <a:rPr dirty="0" sz="13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way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to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know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which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units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need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attention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this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11826"/>
                </a:solidFill>
                <a:latin typeface="Segoe UI"/>
                <a:cs typeface="Segoe UI"/>
              </a:rPr>
              <a:t>week</a:t>
            </a:r>
            <a:endParaRPr sz="1300">
              <a:latin typeface="Segoe UI"/>
              <a:cs typeface="Segoe UI"/>
            </a:endParaRPr>
          </a:p>
          <a:p>
            <a:pPr marL="12700" marR="281940">
              <a:lnSpc>
                <a:spcPct val="100800"/>
              </a:lnSpc>
              <a:spcBef>
                <a:spcPts val="890"/>
              </a:spcBef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!</a:t>
            </a:r>
            <a:r>
              <a:rPr dirty="0" sz="1300" spc="3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Historical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inspection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patterns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are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lost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when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tags</a:t>
            </a:r>
            <a:r>
              <a:rPr dirty="0" sz="13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5">
                <a:solidFill>
                  <a:srgbClr val="111826"/>
                </a:solidFill>
                <a:latin typeface="Segoe UI"/>
                <a:cs typeface="Segoe UI"/>
              </a:rPr>
              <a:t>are 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replaced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0256" y="1846434"/>
            <a:ext cx="4217670" cy="24447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b="1">
                <a:solidFill>
                  <a:srgbClr val="111826"/>
                </a:solidFill>
                <a:latin typeface="Gadugi"/>
                <a:cs typeface="Gadugi"/>
              </a:rPr>
              <a:t>Who</a:t>
            </a:r>
            <a:r>
              <a:rPr dirty="0" sz="1900" spc="3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11826"/>
                </a:solidFill>
                <a:latin typeface="Gadugi"/>
                <a:cs typeface="Gadugi"/>
              </a:rPr>
              <a:t>Is</a:t>
            </a:r>
            <a:r>
              <a:rPr dirty="0" sz="1900" spc="2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900" spc="-10" b="1">
                <a:solidFill>
                  <a:srgbClr val="111826"/>
                </a:solidFill>
                <a:latin typeface="Gadugi"/>
                <a:cs typeface="Gadugi"/>
              </a:rPr>
              <a:t>Affected</a:t>
            </a:r>
            <a:endParaRPr sz="1900">
              <a:latin typeface="Gadugi"/>
              <a:cs typeface="Gadugi"/>
            </a:endParaRPr>
          </a:p>
          <a:p>
            <a:pPr marL="12700" marR="104775" indent="157480">
              <a:lnSpc>
                <a:spcPct val="101499"/>
              </a:lnSpc>
              <a:spcBef>
                <a:spcPts val="1465"/>
              </a:spcBef>
              <a:buChar char="•"/>
              <a:tabLst>
                <a:tab pos="170180" algn="l"/>
              </a:tabLst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Safety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Officers</a:t>
            </a:r>
            <a:r>
              <a:rPr dirty="0" sz="13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—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responsible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for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compliance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but</a:t>
            </a:r>
            <a:r>
              <a:rPr dirty="0" sz="13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11826"/>
                </a:solidFill>
                <a:latin typeface="Segoe UI"/>
                <a:cs typeface="Segoe UI"/>
              </a:rPr>
              <a:t>lack 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visibility</a:t>
            </a:r>
            <a:endParaRPr sz="1300">
              <a:latin typeface="Segoe UI"/>
              <a:cs typeface="Segoe UI"/>
            </a:endParaRPr>
          </a:p>
          <a:p>
            <a:pPr marL="12700" marR="5080" indent="157480">
              <a:lnSpc>
                <a:spcPct val="101600"/>
              </a:lnSpc>
              <a:spcBef>
                <a:spcPts val="865"/>
              </a:spcBef>
              <a:buChar char="•"/>
              <a:tabLst>
                <a:tab pos="170180" algn="l"/>
              </a:tabLst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Building</a:t>
            </a:r>
            <a:r>
              <a:rPr dirty="0" sz="13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Occupants</a:t>
            </a:r>
            <a:r>
              <a:rPr dirty="0" sz="13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—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depend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on</a:t>
            </a:r>
            <a:r>
              <a:rPr dirty="0" sz="13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equipment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that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5">
                <a:solidFill>
                  <a:srgbClr val="111826"/>
                </a:solidFill>
                <a:latin typeface="Segoe UI"/>
                <a:cs typeface="Segoe UI"/>
              </a:rPr>
              <a:t>may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be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expired</a:t>
            </a:r>
            <a:endParaRPr sz="1300">
              <a:latin typeface="Segoe UI"/>
              <a:cs typeface="Segoe UI"/>
            </a:endParaRPr>
          </a:p>
          <a:p>
            <a:pPr marL="12700" marR="242570" indent="157480">
              <a:lnSpc>
                <a:spcPct val="101600"/>
              </a:lnSpc>
              <a:spcBef>
                <a:spcPts val="860"/>
              </a:spcBef>
              <a:buChar char="•"/>
              <a:tabLst>
                <a:tab pos="170180" algn="l"/>
              </a:tabLst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Audit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Teams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—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find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violations that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could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have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11826"/>
                </a:solidFill>
                <a:latin typeface="Segoe UI"/>
                <a:cs typeface="Segoe UI"/>
              </a:rPr>
              <a:t>been 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prevented</a:t>
            </a:r>
            <a:endParaRPr sz="1300">
              <a:latin typeface="Segoe UI"/>
              <a:cs typeface="Segoe UI"/>
            </a:endParaRPr>
          </a:p>
          <a:p>
            <a:pPr marL="12700" marR="149860" indent="157480">
              <a:lnSpc>
                <a:spcPct val="101499"/>
              </a:lnSpc>
              <a:spcBef>
                <a:spcPts val="865"/>
              </a:spcBef>
              <a:buChar char="•"/>
              <a:tabLst>
                <a:tab pos="170180" algn="l"/>
              </a:tabLst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Maintenance Technicians —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waste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time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searching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5">
                <a:solidFill>
                  <a:srgbClr val="111826"/>
                </a:solidFill>
                <a:latin typeface="Segoe UI"/>
                <a:cs typeface="Segoe UI"/>
              </a:rPr>
              <a:t>for 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units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9551" y="5975264"/>
            <a:ext cx="6944359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b="1">
                <a:solidFill>
                  <a:srgbClr val="6B7280"/>
                </a:solidFill>
                <a:latin typeface="Gadugi"/>
                <a:cs typeface="Gadugi"/>
              </a:rPr>
              <a:t>"The</a:t>
            </a:r>
            <a:r>
              <a:rPr dirty="0" sz="1550" spc="35" b="1">
                <a:solidFill>
                  <a:srgbClr val="6B7280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6B7280"/>
                </a:solidFill>
                <a:latin typeface="Gadugi"/>
                <a:cs typeface="Gadugi"/>
              </a:rPr>
              <a:t>inspection</a:t>
            </a:r>
            <a:r>
              <a:rPr dirty="0" sz="1550" spc="45" b="1">
                <a:solidFill>
                  <a:srgbClr val="6B7280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6B7280"/>
                </a:solidFill>
                <a:latin typeface="Gadugi"/>
                <a:cs typeface="Gadugi"/>
              </a:rPr>
              <a:t>interval</a:t>
            </a:r>
            <a:r>
              <a:rPr dirty="0" sz="1550" spc="45" b="1">
                <a:solidFill>
                  <a:srgbClr val="6B7280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6B7280"/>
                </a:solidFill>
                <a:latin typeface="Gadugi"/>
                <a:cs typeface="Gadugi"/>
              </a:rPr>
              <a:t>is</a:t>
            </a:r>
            <a:r>
              <a:rPr dirty="0" sz="1550" spc="60" b="1">
                <a:solidFill>
                  <a:srgbClr val="6B7280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6B7280"/>
                </a:solidFill>
                <a:latin typeface="Gadugi"/>
                <a:cs typeface="Gadugi"/>
              </a:rPr>
              <a:t>known</a:t>
            </a:r>
            <a:r>
              <a:rPr dirty="0" sz="1550" spc="45" b="1">
                <a:solidFill>
                  <a:srgbClr val="6B7280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6B7280"/>
                </a:solidFill>
                <a:latin typeface="Gadugi"/>
                <a:cs typeface="Gadugi"/>
              </a:rPr>
              <a:t>and</a:t>
            </a:r>
            <a:r>
              <a:rPr dirty="0" sz="1550" spc="40" b="1">
                <a:solidFill>
                  <a:srgbClr val="6B7280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6B7280"/>
                </a:solidFill>
                <a:latin typeface="Gadugi"/>
                <a:cs typeface="Gadugi"/>
              </a:rPr>
              <a:t>fixed;</a:t>
            </a:r>
            <a:r>
              <a:rPr dirty="0" sz="1550" spc="40" b="1">
                <a:solidFill>
                  <a:srgbClr val="6B7280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6B7280"/>
                </a:solidFill>
                <a:latin typeface="Gadugi"/>
                <a:cs typeface="Gadugi"/>
              </a:rPr>
              <a:t>only</a:t>
            </a:r>
            <a:r>
              <a:rPr dirty="0" sz="1550" spc="40" b="1">
                <a:solidFill>
                  <a:srgbClr val="6B7280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6B7280"/>
                </a:solidFill>
                <a:latin typeface="Gadugi"/>
                <a:cs typeface="Gadugi"/>
              </a:rPr>
              <a:t>the</a:t>
            </a:r>
            <a:r>
              <a:rPr dirty="0" sz="1550" spc="35" b="1">
                <a:solidFill>
                  <a:srgbClr val="6B7280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6B7280"/>
                </a:solidFill>
                <a:latin typeface="Gadugi"/>
                <a:cs typeface="Gadugi"/>
              </a:rPr>
              <a:t>tracking</a:t>
            </a:r>
            <a:r>
              <a:rPr dirty="0" sz="1550" spc="40" b="1">
                <a:solidFill>
                  <a:srgbClr val="6B7280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6B7280"/>
                </a:solidFill>
                <a:latin typeface="Gadugi"/>
                <a:cs typeface="Gadugi"/>
              </a:rPr>
              <a:t>is</a:t>
            </a:r>
            <a:r>
              <a:rPr dirty="0" sz="1550" spc="60" b="1">
                <a:solidFill>
                  <a:srgbClr val="6B7280"/>
                </a:solidFill>
                <a:latin typeface="Gadugi"/>
                <a:cs typeface="Gadugi"/>
              </a:rPr>
              <a:t> </a:t>
            </a:r>
            <a:r>
              <a:rPr dirty="0" sz="1550" spc="-10" b="1">
                <a:solidFill>
                  <a:srgbClr val="6B7280"/>
                </a:solidFill>
                <a:latin typeface="Gadugi"/>
                <a:cs typeface="Gadugi"/>
              </a:rPr>
              <a:t>missing."</a:t>
            </a:r>
            <a:endParaRPr sz="1550">
              <a:latin typeface="Gadugi"/>
              <a:cs typeface="Gadug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34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OUR</a:t>
            </a:r>
            <a:r>
              <a:rPr dirty="0" spc="-35"/>
              <a:t> </a:t>
            </a:r>
            <a:r>
              <a:rPr dirty="0" spc="-1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0812" y="1897379"/>
            <a:ext cx="9862185" cy="1042669"/>
          </a:xfrm>
          <a:prstGeom prst="rect">
            <a:avLst/>
          </a:prstGeom>
          <a:solidFill>
            <a:srgbClr val="EFFDF4"/>
          </a:solidFill>
        </p:spPr>
        <p:txBody>
          <a:bodyPr wrap="square" lIns="0" tIns="160020" rIns="0" bIns="0" rtlCol="0" vert="horz">
            <a:spAutoFit/>
          </a:bodyPr>
          <a:lstStyle/>
          <a:p>
            <a:pPr algn="ctr" marL="353060" marR="265430" indent="-635">
              <a:lnSpc>
                <a:spcPct val="101600"/>
              </a:lnSpc>
              <a:spcBef>
                <a:spcPts val="1260"/>
              </a:spcBef>
            </a:pP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A</a:t>
            </a:r>
            <a:r>
              <a:rPr dirty="0" sz="1900" spc="5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web-based</a:t>
            </a:r>
            <a:r>
              <a:rPr dirty="0" sz="1900" spc="4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register</a:t>
            </a:r>
            <a:r>
              <a:rPr dirty="0" sz="1900" spc="6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that</a:t>
            </a:r>
            <a:r>
              <a:rPr dirty="0" sz="1900" spc="55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records</a:t>
            </a:r>
            <a:r>
              <a:rPr dirty="0" sz="1900" spc="6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every</a:t>
            </a:r>
            <a:r>
              <a:rPr dirty="0" sz="1900" spc="6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safety</a:t>
            </a:r>
            <a:r>
              <a:rPr dirty="0" sz="1900" spc="85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equipment</a:t>
            </a:r>
            <a:r>
              <a:rPr dirty="0" sz="1900" spc="8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unit,</a:t>
            </a:r>
            <a:r>
              <a:rPr dirty="0" sz="1900" spc="55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shows</a:t>
            </a:r>
            <a:r>
              <a:rPr dirty="0" sz="1900" spc="8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spc="-10" b="1">
                <a:solidFill>
                  <a:srgbClr val="16A349"/>
                </a:solidFill>
                <a:latin typeface="Gadugi"/>
                <a:cs typeface="Gadugi"/>
              </a:rPr>
              <a:t>which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ones</a:t>
            </a:r>
            <a:r>
              <a:rPr dirty="0" sz="1900" spc="3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are</a:t>
            </a:r>
            <a:r>
              <a:rPr dirty="0" sz="1900" spc="3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overdue</a:t>
            </a:r>
            <a:r>
              <a:rPr dirty="0" sz="1900" spc="3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or</a:t>
            </a:r>
            <a:r>
              <a:rPr dirty="0" sz="1900" spc="35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about</a:t>
            </a:r>
            <a:r>
              <a:rPr dirty="0" sz="1900" spc="3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to</a:t>
            </a:r>
            <a:r>
              <a:rPr dirty="0" sz="1900" spc="3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expire,</a:t>
            </a:r>
            <a:r>
              <a:rPr dirty="0" sz="1900" spc="3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and</a:t>
            </a:r>
            <a:r>
              <a:rPr dirty="0" sz="1900" spc="5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warns</a:t>
            </a:r>
            <a:r>
              <a:rPr dirty="0" sz="1900" spc="35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which</a:t>
            </a:r>
            <a:r>
              <a:rPr dirty="0" sz="1900" spc="45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units</a:t>
            </a:r>
            <a:r>
              <a:rPr dirty="0" sz="1900" spc="5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are</a:t>
            </a:r>
            <a:r>
              <a:rPr dirty="0" sz="1900" spc="3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most</a:t>
            </a:r>
            <a:r>
              <a:rPr dirty="0" sz="1900" spc="3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likely</a:t>
            </a:r>
            <a:r>
              <a:rPr dirty="0" sz="1900" spc="6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to</a:t>
            </a:r>
            <a:r>
              <a:rPr dirty="0" sz="1900" spc="3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spc="-25" b="1">
                <a:solidFill>
                  <a:srgbClr val="16A349"/>
                </a:solidFill>
                <a:latin typeface="Gadugi"/>
                <a:cs typeface="Gadugi"/>
              </a:rPr>
              <a:t>be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missed</a:t>
            </a:r>
            <a:r>
              <a:rPr dirty="0" sz="1900" spc="5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—</a:t>
            </a:r>
            <a:r>
              <a:rPr dirty="0" sz="1900" spc="3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so</a:t>
            </a:r>
            <a:r>
              <a:rPr dirty="0" sz="1900" spc="35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nothing</a:t>
            </a:r>
            <a:r>
              <a:rPr dirty="0" sz="1900" spc="3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is</a:t>
            </a:r>
            <a:r>
              <a:rPr dirty="0" sz="1900" spc="3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b="1">
                <a:solidFill>
                  <a:srgbClr val="16A349"/>
                </a:solidFill>
                <a:latin typeface="Gadugi"/>
                <a:cs typeface="Gadugi"/>
              </a:rPr>
              <a:t>ever</a:t>
            </a:r>
            <a:r>
              <a:rPr dirty="0" sz="1900" spc="40" b="1">
                <a:solidFill>
                  <a:srgbClr val="16A349"/>
                </a:solidFill>
                <a:latin typeface="Gadugi"/>
                <a:cs typeface="Gadugi"/>
              </a:rPr>
              <a:t> </a:t>
            </a:r>
            <a:r>
              <a:rPr dirty="0" sz="1900" spc="-10" b="1">
                <a:solidFill>
                  <a:srgbClr val="16A349"/>
                </a:solidFill>
                <a:latin typeface="Gadugi"/>
                <a:cs typeface="Gadugi"/>
              </a:rPr>
              <a:t>overlooked.</a:t>
            </a:r>
            <a:endParaRPr sz="1900">
              <a:latin typeface="Gadugi"/>
              <a:cs typeface="Gadug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What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/>
              <a:t>Safety</a:t>
            </a:r>
            <a:r>
              <a:rPr dirty="0" spc="55"/>
              <a:t> </a:t>
            </a:r>
            <a:r>
              <a:rPr dirty="0"/>
              <a:t>Officer</a:t>
            </a:r>
            <a:r>
              <a:rPr dirty="0" spc="20"/>
              <a:t> </a:t>
            </a:r>
            <a:r>
              <a:rPr dirty="0" spc="-20"/>
              <a:t>Sees:</a:t>
            </a:r>
          </a:p>
          <a:p>
            <a:pPr marL="288290" indent="-275590">
              <a:lnSpc>
                <a:spcPct val="100000"/>
              </a:lnSpc>
              <a:spcBef>
                <a:spcPts val="1265"/>
              </a:spcBef>
              <a:buFont typeface="Segoe UI Symbol"/>
              <a:buChar char="✓"/>
              <a:tabLst>
                <a:tab pos="288290" algn="l"/>
              </a:tabLst>
            </a:pPr>
            <a:r>
              <a:rPr dirty="0" sz="1400" b="0">
                <a:latin typeface="Segoe UI"/>
                <a:cs typeface="Segoe UI"/>
              </a:rPr>
              <a:t>A</a:t>
            </a:r>
            <a:r>
              <a:rPr dirty="0" sz="1400" spc="-25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single</a:t>
            </a:r>
            <a:r>
              <a:rPr dirty="0" sz="1400" spc="-5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screen</a:t>
            </a:r>
            <a:r>
              <a:rPr dirty="0" sz="1400" spc="-10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showing</a:t>
            </a:r>
            <a:r>
              <a:rPr dirty="0" sz="1400" spc="-15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every</a:t>
            </a:r>
            <a:r>
              <a:rPr dirty="0" sz="1400" spc="-10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unit</a:t>
            </a:r>
            <a:r>
              <a:rPr dirty="0" sz="1400" spc="-15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in</a:t>
            </a:r>
            <a:r>
              <a:rPr dirty="0" sz="1400" spc="-20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the</a:t>
            </a:r>
            <a:r>
              <a:rPr dirty="0" sz="1400" spc="-5" b="0">
                <a:latin typeface="Segoe UI"/>
                <a:cs typeface="Segoe UI"/>
              </a:rPr>
              <a:t> </a:t>
            </a:r>
            <a:r>
              <a:rPr dirty="0" sz="1400" spc="-10" b="0">
                <a:latin typeface="Segoe UI"/>
                <a:cs typeface="Segoe UI"/>
              </a:rPr>
              <a:t>building</a:t>
            </a:r>
            <a:endParaRPr sz="1400">
              <a:latin typeface="Segoe UI"/>
              <a:cs typeface="Segoe UI"/>
            </a:endParaRPr>
          </a:p>
          <a:p>
            <a:pPr marL="12700" marR="252729" indent="275590">
              <a:lnSpc>
                <a:spcPct val="100000"/>
              </a:lnSpc>
              <a:spcBef>
                <a:spcPts val="890"/>
              </a:spcBef>
              <a:buFont typeface="Segoe UI Symbol"/>
              <a:buChar char="✓"/>
              <a:tabLst>
                <a:tab pos="288290" algn="l"/>
              </a:tabLst>
            </a:pPr>
            <a:r>
              <a:rPr dirty="0" sz="1400" b="0">
                <a:latin typeface="Segoe UI"/>
                <a:cs typeface="Segoe UI"/>
              </a:rPr>
              <a:t>Red</a:t>
            </a:r>
            <a:r>
              <a:rPr dirty="0" sz="1400" spc="-25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alerts</a:t>
            </a:r>
            <a:r>
              <a:rPr dirty="0" sz="1400" spc="-40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for</a:t>
            </a:r>
            <a:r>
              <a:rPr dirty="0" sz="1400" spc="-35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overdue</a:t>
            </a:r>
            <a:r>
              <a:rPr dirty="0" sz="1400" spc="-40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items,</a:t>
            </a:r>
            <a:r>
              <a:rPr dirty="0" sz="1400" spc="-20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yellow</a:t>
            </a:r>
            <a:r>
              <a:rPr dirty="0" sz="1400" spc="-30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warnings</a:t>
            </a:r>
            <a:r>
              <a:rPr dirty="0" sz="1400" spc="-30" b="0">
                <a:latin typeface="Segoe UI"/>
                <a:cs typeface="Segoe UI"/>
              </a:rPr>
              <a:t> </a:t>
            </a:r>
            <a:r>
              <a:rPr dirty="0" sz="1400" spc="-25" b="0">
                <a:latin typeface="Segoe UI"/>
                <a:cs typeface="Segoe UI"/>
              </a:rPr>
              <a:t>for </a:t>
            </a:r>
            <a:r>
              <a:rPr dirty="0" sz="1400" spc="-10" b="0">
                <a:latin typeface="Segoe UI"/>
                <a:cs typeface="Segoe UI"/>
              </a:rPr>
              <a:t>approaching</a:t>
            </a:r>
            <a:r>
              <a:rPr dirty="0" sz="1400" b="0">
                <a:latin typeface="Segoe UI"/>
                <a:cs typeface="Segoe UI"/>
              </a:rPr>
              <a:t> </a:t>
            </a:r>
            <a:r>
              <a:rPr dirty="0" sz="1400" spc="-20" b="0">
                <a:latin typeface="Segoe UI"/>
                <a:cs typeface="Segoe UI"/>
              </a:rPr>
              <a:t>ones</a:t>
            </a:r>
            <a:endParaRPr sz="1400">
              <a:latin typeface="Segoe UI"/>
              <a:cs typeface="Segoe UI"/>
            </a:endParaRPr>
          </a:p>
          <a:p>
            <a:pPr marL="12700" marR="342265" indent="275590">
              <a:lnSpc>
                <a:spcPct val="100000"/>
              </a:lnSpc>
              <a:spcBef>
                <a:spcPts val="875"/>
              </a:spcBef>
              <a:buFont typeface="Segoe UI Symbol"/>
              <a:buChar char="✓"/>
              <a:tabLst>
                <a:tab pos="288290" algn="l"/>
              </a:tabLst>
            </a:pPr>
            <a:r>
              <a:rPr dirty="0" sz="1400" b="0">
                <a:latin typeface="Segoe UI"/>
                <a:cs typeface="Segoe UI"/>
              </a:rPr>
              <a:t>A</a:t>
            </a:r>
            <a:r>
              <a:rPr dirty="0" sz="1400" spc="-40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risk</a:t>
            </a:r>
            <a:r>
              <a:rPr dirty="0" sz="1400" spc="-30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score</a:t>
            </a:r>
            <a:r>
              <a:rPr dirty="0" sz="1400" spc="-20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predicting</a:t>
            </a:r>
            <a:r>
              <a:rPr dirty="0" sz="1400" spc="-15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which</a:t>
            </a:r>
            <a:r>
              <a:rPr dirty="0" sz="1400" spc="-25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units</a:t>
            </a:r>
            <a:r>
              <a:rPr dirty="0" sz="1400" spc="-40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need</a:t>
            </a:r>
            <a:r>
              <a:rPr dirty="0" sz="1400" spc="-45" b="0">
                <a:latin typeface="Segoe UI"/>
                <a:cs typeface="Segoe UI"/>
              </a:rPr>
              <a:t> </a:t>
            </a:r>
            <a:r>
              <a:rPr dirty="0" sz="1400" spc="-10" b="0">
                <a:latin typeface="Segoe UI"/>
                <a:cs typeface="Segoe UI"/>
              </a:rPr>
              <a:t>priority attention</a:t>
            </a:r>
            <a:endParaRPr sz="1400">
              <a:latin typeface="Segoe UI"/>
              <a:cs typeface="Segoe UI"/>
            </a:endParaRPr>
          </a:p>
          <a:p>
            <a:pPr marL="12700" marR="5080" indent="275590">
              <a:lnSpc>
                <a:spcPct val="100000"/>
              </a:lnSpc>
              <a:spcBef>
                <a:spcPts val="890"/>
              </a:spcBef>
              <a:buFont typeface="Segoe UI Symbol"/>
              <a:buChar char="✓"/>
              <a:tabLst>
                <a:tab pos="288290" algn="l"/>
              </a:tabLst>
            </a:pPr>
            <a:r>
              <a:rPr dirty="0" sz="1400" spc="-10" b="0">
                <a:latin typeface="Segoe UI"/>
                <a:cs typeface="Segoe UI"/>
              </a:rPr>
              <a:t>One-</a:t>
            </a:r>
            <a:r>
              <a:rPr dirty="0" sz="1400" b="0">
                <a:latin typeface="Segoe UI"/>
                <a:cs typeface="Segoe UI"/>
              </a:rPr>
              <a:t>click</a:t>
            </a:r>
            <a:r>
              <a:rPr dirty="0" sz="1400" spc="-40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inspection</a:t>
            </a:r>
            <a:r>
              <a:rPr dirty="0" sz="1400" spc="-35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recording</a:t>
            </a:r>
            <a:r>
              <a:rPr dirty="0" sz="1400" spc="-40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with</a:t>
            </a:r>
            <a:r>
              <a:rPr dirty="0" sz="1400" spc="-50" b="0">
                <a:latin typeface="Segoe UI"/>
                <a:cs typeface="Segoe UI"/>
              </a:rPr>
              <a:t> </a:t>
            </a:r>
            <a:r>
              <a:rPr dirty="0" sz="1400" b="0">
                <a:latin typeface="Segoe UI"/>
                <a:cs typeface="Segoe UI"/>
              </a:rPr>
              <a:t>automatic</a:t>
            </a:r>
            <a:r>
              <a:rPr dirty="0" sz="1400" spc="-45" b="0">
                <a:latin typeface="Segoe UI"/>
                <a:cs typeface="Segoe UI"/>
              </a:rPr>
              <a:t> </a:t>
            </a:r>
            <a:r>
              <a:rPr dirty="0" sz="1400" spc="-10" b="0">
                <a:latin typeface="Segoe UI"/>
                <a:cs typeface="Segoe UI"/>
              </a:rPr>
              <a:t>next-</a:t>
            </a:r>
            <a:r>
              <a:rPr dirty="0" sz="1400" b="0">
                <a:latin typeface="Segoe UI"/>
                <a:cs typeface="Segoe UI"/>
              </a:rPr>
              <a:t>due</a:t>
            </a:r>
            <a:r>
              <a:rPr dirty="0" sz="1400" spc="-15" b="0">
                <a:latin typeface="Segoe UI"/>
                <a:cs typeface="Segoe UI"/>
              </a:rPr>
              <a:t> </a:t>
            </a:r>
            <a:r>
              <a:rPr dirty="0" sz="1400" spc="-10" b="0">
                <a:latin typeface="Segoe UI"/>
                <a:cs typeface="Segoe UI"/>
              </a:rPr>
              <a:t>calculation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79458" y="3209270"/>
            <a:ext cx="3907790" cy="1615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What</a:t>
            </a:r>
            <a:r>
              <a:rPr dirty="0" sz="1550" spc="4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the</a:t>
            </a:r>
            <a:r>
              <a:rPr dirty="0" sz="1550" spc="5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Safety</a:t>
            </a:r>
            <a:r>
              <a:rPr dirty="0" sz="1550" spc="4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Officer</a:t>
            </a:r>
            <a:r>
              <a:rPr dirty="0" sz="1550" spc="4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No</a:t>
            </a:r>
            <a:r>
              <a:rPr dirty="0" sz="1550" spc="4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Longer</a:t>
            </a:r>
            <a:r>
              <a:rPr dirty="0" sz="1550" spc="4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spc="-10" b="1">
                <a:solidFill>
                  <a:srgbClr val="111826"/>
                </a:solidFill>
                <a:latin typeface="Gadugi"/>
                <a:cs typeface="Gadugi"/>
              </a:rPr>
              <a:t>Does:</a:t>
            </a:r>
            <a:endParaRPr sz="15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  <a:tabLst>
                <a:tab pos="288925" algn="l"/>
              </a:tabLst>
            </a:pPr>
            <a:r>
              <a:rPr dirty="0" sz="1400" spc="-50">
                <a:solidFill>
                  <a:srgbClr val="6B7280"/>
                </a:solidFill>
                <a:latin typeface="Segoe UI Symbol"/>
                <a:cs typeface="Segoe UI Symbol"/>
              </a:rPr>
              <a:t>✗</a:t>
            </a:r>
            <a:r>
              <a:rPr dirty="0" sz="1400">
                <a:solidFill>
                  <a:srgbClr val="6B7280"/>
                </a:solidFill>
                <a:latin typeface="Segoe UI Symbol"/>
                <a:cs typeface="Segoe UI Symbol"/>
              </a:rPr>
              <a:t>	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Walk</a:t>
            </a:r>
            <a:r>
              <a:rPr dirty="0" sz="1400" spc="-4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every</a:t>
            </a:r>
            <a:r>
              <a:rPr dirty="0" sz="1400" spc="-5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floor</a:t>
            </a:r>
            <a:r>
              <a:rPr dirty="0" sz="1400" spc="-4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reading</a:t>
            </a:r>
            <a:r>
              <a:rPr dirty="0" sz="1400" spc="-2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paper</a:t>
            </a:r>
            <a:r>
              <a:rPr dirty="0" sz="1400" spc="-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 spc="-20">
                <a:solidFill>
                  <a:srgbClr val="6B7280"/>
                </a:solidFill>
                <a:latin typeface="Segoe UI"/>
                <a:cs typeface="Segoe UI"/>
              </a:rPr>
              <a:t>tags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  <a:tabLst>
                <a:tab pos="288925" algn="l"/>
              </a:tabLst>
            </a:pPr>
            <a:r>
              <a:rPr dirty="0" sz="1400" spc="-50">
                <a:solidFill>
                  <a:srgbClr val="6B7280"/>
                </a:solidFill>
                <a:latin typeface="Segoe UI Symbol"/>
                <a:cs typeface="Segoe UI Symbol"/>
              </a:rPr>
              <a:t>✗</a:t>
            </a:r>
            <a:r>
              <a:rPr dirty="0" sz="1400">
                <a:solidFill>
                  <a:srgbClr val="6B7280"/>
                </a:solidFill>
                <a:latin typeface="Segoe UI Symbol"/>
                <a:cs typeface="Segoe UI Symbol"/>
              </a:rPr>
              <a:t>	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Calculate</a:t>
            </a:r>
            <a:r>
              <a:rPr dirty="0" sz="1400" spc="-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due</a:t>
            </a:r>
            <a:r>
              <a:rPr dirty="0" sz="1400" spc="-3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dates</a:t>
            </a:r>
            <a:r>
              <a:rPr dirty="0" sz="1400" spc="-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by</a:t>
            </a:r>
            <a:r>
              <a:rPr dirty="0" sz="1400" spc="-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 spc="-20">
                <a:solidFill>
                  <a:srgbClr val="6B7280"/>
                </a:solidFill>
                <a:latin typeface="Segoe UI"/>
                <a:cs typeface="Segoe UI"/>
              </a:rPr>
              <a:t>hand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88925" algn="l"/>
              </a:tabLst>
            </a:pPr>
            <a:r>
              <a:rPr dirty="0" sz="1400" spc="-50">
                <a:solidFill>
                  <a:srgbClr val="6B7280"/>
                </a:solidFill>
                <a:latin typeface="Segoe UI Symbol"/>
                <a:cs typeface="Segoe UI Symbol"/>
              </a:rPr>
              <a:t>✗</a:t>
            </a:r>
            <a:r>
              <a:rPr dirty="0" sz="1400">
                <a:solidFill>
                  <a:srgbClr val="6B7280"/>
                </a:solidFill>
                <a:latin typeface="Segoe UI Symbol"/>
                <a:cs typeface="Segoe UI Symbol"/>
              </a:rPr>
              <a:t>	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Discover</a:t>
            </a:r>
            <a:r>
              <a:rPr dirty="0" sz="1400" spc="-4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expired</a:t>
            </a:r>
            <a:r>
              <a:rPr dirty="0" sz="1400" spc="-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units</a:t>
            </a:r>
            <a:r>
              <a:rPr dirty="0" sz="1400" spc="-5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during</a:t>
            </a:r>
            <a:r>
              <a:rPr dirty="0" sz="1400" spc="-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6B7280"/>
                </a:solidFill>
                <a:latin typeface="Segoe UI"/>
                <a:cs typeface="Segoe UI"/>
              </a:rPr>
              <a:t>audits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88925" algn="l"/>
              </a:tabLst>
            </a:pPr>
            <a:r>
              <a:rPr dirty="0" sz="1400" spc="-50">
                <a:solidFill>
                  <a:srgbClr val="6B7280"/>
                </a:solidFill>
                <a:latin typeface="Segoe UI Symbol"/>
                <a:cs typeface="Segoe UI Symbol"/>
              </a:rPr>
              <a:t>✗</a:t>
            </a:r>
            <a:r>
              <a:rPr dirty="0" sz="1400">
                <a:solidFill>
                  <a:srgbClr val="6B7280"/>
                </a:solidFill>
                <a:latin typeface="Segoe UI Symbol"/>
                <a:cs typeface="Segoe UI Symbol"/>
              </a:rPr>
              <a:t>	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Lose</a:t>
            </a:r>
            <a:r>
              <a:rPr dirty="0" sz="1400" spc="-2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inspection</a:t>
            </a:r>
            <a:r>
              <a:rPr dirty="0" sz="1400" spc="-1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history</a:t>
            </a:r>
            <a:r>
              <a:rPr dirty="0" sz="1400" spc="-1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when</a:t>
            </a:r>
            <a:r>
              <a:rPr dirty="0" sz="1400" spc="-1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a tag</a:t>
            </a:r>
            <a:r>
              <a:rPr dirty="0" sz="1400" spc="-3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is</a:t>
            </a:r>
            <a:r>
              <a:rPr dirty="0" sz="1400" spc="-10">
                <a:solidFill>
                  <a:srgbClr val="6B7280"/>
                </a:solidFill>
                <a:latin typeface="Segoe UI"/>
                <a:cs typeface="Segoe UI"/>
              </a:rPr>
              <a:t> replaced</a:t>
            </a:r>
            <a:endParaRPr sz="1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34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SCREENSHOTS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OUR</a:t>
            </a:r>
            <a:r>
              <a:rPr dirty="0" spc="-55"/>
              <a:t> </a:t>
            </a:r>
            <a:r>
              <a:rPr dirty="0"/>
              <a:t>WORKING</a:t>
            </a:r>
            <a:r>
              <a:rPr dirty="0" spc="-55"/>
              <a:t> </a:t>
            </a:r>
            <a:r>
              <a:rPr dirty="0" spc="-1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336" y="1818132"/>
            <a:ext cx="4810125" cy="2164080"/>
          </a:xfrm>
          <a:prstGeom prst="rect">
            <a:avLst/>
          </a:prstGeom>
          <a:solidFill>
            <a:srgbClr val="F2F4F6"/>
          </a:solidFill>
          <a:ln w="10668">
            <a:solidFill>
              <a:srgbClr val="6B7280"/>
            </a:solidFill>
          </a:ln>
        </p:spPr>
        <p:txBody>
          <a:bodyPr wrap="square" lIns="0" tIns="120650" rIns="0" bIns="0" rtlCol="0" vert="horz">
            <a:spAutoFit/>
          </a:bodyPr>
          <a:lstStyle/>
          <a:p>
            <a:pPr marL="238760">
              <a:lnSpc>
                <a:spcPct val="100000"/>
              </a:lnSpc>
              <a:spcBef>
                <a:spcPts val="950"/>
              </a:spcBef>
            </a:pPr>
            <a:r>
              <a:rPr dirty="0" sz="1400" spc="-10" b="1">
                <a:solidFill>
                  <a:srgbClr val="2462EB"/>
                </a:solidFill>
                <a:latin typeface="Gadugi"/>
                <a:cs typeface="Gadugi"/>
              </a:rPr>
              <a:t>Dashboard</a:t>
            </a:r>
            <a:endParaRPr sz="1400">
              <a:latin typeface="Gadugi"/>
              <a:cs typeface="Gadugi"/>
            </a:endParaRPr>
          </a:p>
          <a:p>
            <a:pPr marL="238760" marR="259715">
              <a:lnSpc>
                <a:spcPct val="103600"/>
              </a:lnSpc>
              <a:spcBef>
                <a:spcPts val="840"/>
              </a:spcBef>
            </a:pP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Shows</a:t>
            </a:r>
            <a:r>
              <a:rPr dirty="0" sz="1100" spc="7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80</a:t>
            </a:r>
            <a:r>
              <a:rPr dirty="0" sz="1100" spc="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units,</a:t>
            </a:r>
            <a:r>
              <a:rPr dirty="0" sz="1100" spc="7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12</a:t>
            </a:r>
            <a:r>
              <a:rPr dirty="0" sz="1100" spc="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overdue,</a:t>
            </a:r>
            <a:r>
              <a:rPr dirty="0" sz="1100" spc="7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18</a:t>
            </a:r>
            <a:r>
              <a:rPr dirty="0" sz="1100" spc="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approaching,</a:t>
            </a:r>
            <a:r>
              <a:rPr dirty="0" sz="1100" spc="8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50</a:t>
            </a:r>
            <a:r>
              <a:rPr dirty="0" sz="1100" spc="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good.</a:t>
            </a:r>
            <a:r>
              <a:rPr dirty="0" sz="1100" spc="7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Urgent</a:t>
            </a:r>
            <a:r>
              <a:rPr dirty="0" sz="1100" spc="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6B7280"/>
                </a:solidFill>
                <a:latin typeface="Segoe UI"/>
                <a:cs typeface="Segoe UI"/>
              </a:rPr>
              <a:t>items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listed</a:t>
            </a:r>
            <a:r>
              <a:rPr dirty="0" sz="1100" spc="5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first</a:t>
            </a:r>
            <a:r>
              <a:rPr dirty="0" sz="1100" spc="5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with</a:t>
            </a:r>
            <a:r>
              <a:rPr dirty="0" sz="1100" spc="6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ML</a:t>
            </a:r>
            <a:r>
              <a:rPr dirty="0" sz="1100" spc="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risk</a:t>
            </a:r>
            <a:r>
              <a:rPr dirty="0" sz="1100" spc="5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6B7280"/>
                </a:solidFill>
                <a:latin typeface="Segoe UI"/>
                <a:cs typeface="Segoe UI"/>
              </a:rPr>
              <a:t>badges.</a:t>
            </a:r>
            <a:endParaRPr sz="11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1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1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1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</a:pP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[INSERT</a:t>
            </a:r>
            <a:r>
              <a:rPr dirty="0" sz="1050" spc="-2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SCREENSHOT </a:t>
            </a:r>
            <a:r>
              <a:rPr dirty="0" sz="1050" spc="-20">
                <a:solidFill>
                  <a:srgbClr val="6B7280"/>
                </a:solidFill>
                <a:latin typeface="Segoe UI"/>
                <a:cs typeface="Segoe UI"/>
              </a:rPr>
              <a:t>HERE]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2100" y="1818132"/>
            <a:ext cx="4811395" cy="2164080"/>
          </a:xfrm>
          <a:prstGeom prst="rect">
            <a:avLst/>
          </a:prstGeom>
          <a:solidFill>
            <a:srgbClr val="F2F4F6"/>
          </a:solidFill>
          <a:ln w="10667">
            <a:solidFill>
              <a:srgbClr val="6B7280"/>
            </a:solidFill>
          </a:ln>
        </p:spPr>
        <p:txBody>
          <a:bodyPr wrap="square" lIns="0" tIns="120650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950"/>
              </a:spcBef>
            </a:pPr>
            <a:r>
              <a:rPr dirty="0" sz="1400" b="1">
                <a:solidFill>
                  <a:srgbClr val="2462EB"/>
                </a:solidFill>
                <a:latin typeface="Gadugi"/>
                <a:cs typeface="Gadugi"/>
              </a:rPr>
              <a:t>Add</a:t>
            </a:r>
            <a:r>
              <a:rPr dirty="0" sz="1400" spc="-10" b="1">
                <a:solidFill>
                  <a:srgbClr val="2462EB"/>
                </a:solidFill>
                <a:latin typeface="Gadugi"/>
                <a:cs typeface="Gadugi"/>
              </a:rPr>
              <a:t> Equipment</a:t>
            </a:r>
            <a:endParaRPr sz="1400">
              <a:latin typeface="Gadugi"/>
              <a:cs typeface="Gadugi"/>
            </a:endParaRPr>
          </a:p>
          <a:p>
            <a:pPr marL="240665" marR="592455">
              <a:lnSpc>
                <a:spcPct val="103600"/>
              </a:lnSpc>
              <a:spcBef>
                <a:spcPts val="840"/>
              </a:spcBef>
            </a:pP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Form</a:t>
            </a:r>
            <a:r>
              <a:rPr dirty="0" sz="1100" spc="8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with</a:t>
            </a:r>
            <a:r>
              <a:rPr dirty="0" sz="1100" spc="8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type,</a:t>
            </a:r>
            <a:r>
              <a:rPr dirty="0" sz="1100" spc="8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location,</a:t>
            </a:r>
            <a:r>
              <a:rPr dirty="0" sz="1100" spc="9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serial,</a:t>
            </a:r>
            <a:r>
              <a:rPr dirty="0" sz="1100" spc="8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manufacturer,</a:t>
            </a:r>
            <a:r>
              <a:rPr dirty="0" sz="1100" spc="6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installation</a:t>
            </a:r>
            <a:r>
              <a:rPr dirty="0" sz="1100" spc="9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6B7280"/>
                </a:solidFill>
                <a:latin typeface="Segoe UI"/>
                <a:cs typeface="Segoe UI"/>
              </a:rPr>
              <a:t>date.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Server</a:t>
            </a:r>
            <a:r>
              <a:rPr dirty="0" sz="1100" spc="9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validates</a:t>
            </a:r>
            <a:r>
              <a:rPr dirty="0" sz="1100" spc="10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every</a:t>
            </a:r>
            <a:r>
              <a:rPr dirty="0" sz="1100" spc="10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6B7280"/>
                </a:solidFill>
                <a:latin typeface="Segoe UI"/>
                <a:cs typeface="Segoe UI"/>
              </a:rPr>
              <a:t>field.</a:t>
            </a:r>
            <a:endParaRPr sz="11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1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1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1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</a:pP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[INSERT</a:t>
            </a:r>
            <a:r>
              <a:rPr dirty="0" sz="1050" spc="-2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SCREENSHOT</a:t>
            </a:r>
            <a:r>
              <a:rPr dirty="0" sz="1050" spc="-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 spc="-20">
                <a:solidFill>
                  <a:srgbClr val="6B7280"/>
                </a:solidFill>
                <a:latin typeface="Segoe UI"/>
                <a:cs typeface="Segoe UI"/>
              </a:rPr>
              <a:t>HERE]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336" y="4223003"/>
            <a:ext cx="4810125" cy="2164080"/>
          </a:xfrm>
          <a:prstGeom prst="rect">
            <a:avLst/>
          </a:prstGeom>
          <a:solidFill>
            <a:srgbClr val="F2F4F6"/>
          </a:solidFill>
          <a:ln w="10668">
            <a:solidFill>
              <a:srgbClr val="6B728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238760">
              <a:lnSpc>
                <a:spcPct val="100000"/>
              </a:lnSpc>
              <a:spcBef>
                <a:spcPts val="960"/>
              </a:spcBef>
            </a:pPr>
            <a:r>
              <a:rPr dirty="0" sz="1400" b="1">
                <a:solidFill>
                  <a:srgbClr val="2462EB"/>
                </a:solidFill>
                <a:latin typeface="Gadugi"/>
                <a:cs typeface="Gadugi"/>
              </a:rPr>
              <a:t>Equipment</a:t>
            </a:r>
            <a:r>
              <a:rPr dirty="0" sz="1400" spc="-75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400" spc="-20" b="1">
                <a:solidFill>
                  <a:srgbClr val="2462EB"/>
                </a:solidFill>
                <a:latin typeface="Gadugi"/>
                <a:cs typeface="Gadugi"/>
              </a:rPr>
              <a:t>List</a:t>
            </a:r>
            <a:endParaRPr sz="1400">
              <a:latin typeface="Gadugi"/>
              <a:cs typeface="Gadugi"/>
            </a:endParaRPr>
          </a:p>
          <a:p>
            <a:pPr marL="238760" marR="272415">
              <a:lnSpc>
                <a:spcPct val="103600"/>
              </a:lnSpc>
              <a:spcBef>
                <a:spcPts val="830"/>
              </a:spcBef>
            </a:pP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Full</a:t>
            </a:r>
            <a:r>
              <a:rPr dirty="0" sz="1100" spc="4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register</a:t>
            </a:r>
            <a:r>
              <a:rPr dirty="0" sz="1100" spc="4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with</a:t>
            </a:r>
            <a:r>
              <a:rPr dirty="0" sz="1100" spc="3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search,</a:t>
            </a:r>
            <a:r>
              <a:rPr dirty="0" sz="1100" spc="4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status</a:t>
            </a:r>
            <a:r>
              <a:rPr dirty="0" sz="1100" spc="4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filter,</a:t>
            </a:r>
            <a:r>
              <a:rPr dirty="0" sz="1100" spc="4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type</a:t>
            </a:r>
            <a:r>
              <a:rPr dirty="0" sz="1100" spc="4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filter.</a:t>
            </a:r>
            <a:r>
              <a:rPr dirty="0" sz="1100" spc="4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Ordered</a:t>
            </a:r>
            <a:r>
              <a:rPr dirty="0" sz="1100" spc="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by</a:t>
            </a:r>
            <a:r>
              <a:rPr dirty="0" sz="1100" spc="4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6B7280"/>
                </a:solidFill>
                <a:latin typeface="Segoe UI"/>
                <a:cs typeface="Segoe UI"/>
              </a:rPr>
              <a:t>urgency.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Result</a:t>
            </a:r>
            <a:r>
              <a:rPr dirty="0" sz="1100" spc="5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count</a:t>
            </a:r>
            <a:r>
              <a:rPr dirty="0" sz="1100" spc="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6B7280"/>
                </a:solidFill>
                <a:latin typeface="Segoe UI"/>
                <a:cs typeface="Segoe UI"/>
              </a:rPr>
              <a:t>shown.</a:t>
            </a:r>
            <a:endParaRPr sz="11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1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1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1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</a:pP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[INSERT</a:t>
            </a:r>
            <a:r>
              <a:rPr dirty="0" sz="1050" spc="-2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SCREENSHOT </a:t>
            </a:r>
            <a:r>
              <a:rPr dirty="0" sz="1050" spc="-20">
                <a:solidFill>
                  <a:srgbClr val="6B7280"/>
                </a:solidFill>
                <a:latin typeface="Segoe UI"/>
                <a:cs typeface="Segoe UI"/>
              </a:rPr>
              <a:t>HERE]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2100" y="4223003"/>
            <a:ext cx="4811395" cy="2164080"/>
          </a:xfrm>
          <a:prstGeom prst="rect">
            <a:avLst/>
          </a:prstGeom>
          <a:solidFill>
            <a:srgbClr val="F2F4F6"/>
          </a:solidFill>
          <a:ln w="10667">
            <a:solidFill>
              <a:srgbClr val="6B728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960"/>
              </a:spcBef>
            </a:pPr>
            <a:r>
              <a:rPr dirty="0" sz="1400" b="1">
                <a:solidFill>
                  <a:srgbClr val="2462EB"/>
                </a:solidFill>
                <a:latin typeface="Gadugi"/>
                <a:cs typeface="Gadugi"/>
              </a:rPr>
              <a:t>Inspection</a:t>
            </a:r>
            <a:r>
              <a:rPr dirty="0" sz="1400" spc="-25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400" b="1">
                <a:solidFill>
                  <a:srgbClr val="2462EB"/>
                </a:solidFill>
                <a:latin typeface="Gadugi"/>
                <a:cs typeface="Gadugi"/>
              </a:rPr>
              <a:t>+</a:t>
            </a:r>
            <a:r>
              <a:rPr dirty="0" sz="1400" spc="-25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400" b="1">
                <a:solidFill>
                  <a:srgbClr val="2462EB"/>
                </a:solidFill>
                <a:latin typeface="Gadugi"/>
                <a:cs typeface="Gadugi"/>
              </a:rPr>
              <a:t>ML</a:t>
            </a:r>
            <a:r>
              <a:rPr dirty="0" sz="1400" spc="-20" b="1">
                <a:solidFill>
                  <a:srgbClr val="2462EB"/>
                </a:solidFill>
                <a:latin typeface="Gadugi"/>
                <a:cs typeface="Gadugi"/>
              </a:rPr>
              <a:t> Risk</a:t>
            </a:r>
            <a:endParaRPr sz="1400">
              <a:latin typeface="Gadugi"/>
              <a:cs typeface="Gadugi"/>
            </a:endParaRPr>
          </a:p>
          <a:p>
            <a:pPr marL="240665" marR="653415">
              <a:lnSpc>
                <a:spcPct val="103600"/>
              </a:lnSpc>
              <a:spcBef>
                <a:spcPts val="830"/>
              </a:spcBef>
            </a:pP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Record</a:t>
            </a:r>
            <a:r>
              <a:rPr dirty="0" sz="1100" spc="9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inspection</a:t>
            </a:r>
            <a:r>
              <a:rPr dirty="0" sz="1100" spc="8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with</a:t>
            </a:r>
            <a:r>
              <a:rPr dirty="0" sz="1100" spc="10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auto</a:t>
            </a:r>
            <a:r>
              <a:rPr dirty="0" sz="1100" spc="8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next-due</a:t>
            </a:r>
            <a:r>
              <a:rPr dirty="0" sz="1100" spc="8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calculation.</a:t>
            </a:r>
            <a:r>
              <a:rPr dirty="0" sz="1100" spc="7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Detail</a:t>
            </a:r>
            <a:r>
              <a:rPr dirty="0" sz="1100" spc="7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 spc="-20">
                <a:solidFill>
                  <a:srgbClr val="6B7280"/>
                </a:solidFill>
                <a:latin typeface="Segoe UI"/>
                <a:cs typeface="Segoe UI"/>
              </a:rPr>
              <a:t>page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shows</a:t>
            </a:r>
            <a:r>
              <a:rPr dirty="0" sz="1100" spc="5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full</a:t>
            </a:r>
            <a:r>
              <a:rPr dirty="0" sz="1100" spc="6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history</a:t>
            </a:r>
            <a:r>
              <a:rPr dirty="0" sz="1100" spc="7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+</a:t>
            </a:r>
            <a:r>
              <a:rPr dirty="0" sz="1100" spc="6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6B7280"/>
                </a:solidFill>
                <a:latin typeface="Segoe UI"/>
                <a:cs typeface="Segoe UI"/>
              </a:rPr>
              <a:t>risk</a:t>
            </a:r>
            <a:r>
              <a:rPr dirty="0" sz="1100" spc="5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6B7280"/>
                </a:solidFill>
                <a:latin typeface="Segoe UI"/>
                <a:cs typeface="Segoe UI"/>
              </a:rPr>
              <a:t>score.</a:t>
            </a:r>
            <a:endParaRPr sz="11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1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1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1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</a:pP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[INSERT</a:t>
            </a:r>
            <a:r>
              <a:rPr dirty="0" sz="1050" spc="-2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SCREENSHOT</a:t>
            </a:r>
            <a:r>
              <a:rPr dirty="0" sz="1050" spc="-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 spc="-20">
                <a:solidFill>
                  <a:srgbClr val="6B7280"/>
                </a:solidFill>
                <a:latin typeface="Segoe UI"/>
                <a:cs typeface="Segoe UI"/>
              </a:rPr>
              <a:t>HERE]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34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HOW</a:t>
            </a:r>
            <a:r>
              <a:rPr dirty="0" spc="-30"/>
              <a:t> </a:t>
            </a:r>
            <a:r>
              <a:rPr dirty="0"/>
              <a:t>DERIVED</a:t>
            </a:r>
            <a:r>
              <a:rPr dirty="0" spc="-5"/>
              <a:t> </a:t>
            </a:r>
            <a:r>
              <a:rPr dirty="0"/>
              <a:t>FIGURES</a:t>
            </a:r>
            <a:r>
              <a:rPr dirty="0" spc="-35"/>
              <a:t> </a:t>
            </a:r>
            <a:r>
              <a:rPr dirty="0"/>
              <a:t>ARE</a:t>
            </a:r>
            <a:r>
              <a:rPr dirty="0" spc="-15"/>
              <a:t> </a:t>
            </a:r>
            <a:r>
              <a:rPr dirty="0" spc="-10"/>
              <a:t>CALCULATED</a:t>
            </a:r>
          </a:p>
        </p:txBody>
      </p:sp>
      <p:sp>
        <p:nvSpPr>
          <p:cNvPr id="3" name="object 3"/>
          <p:cNvSpPr/>
          <p:nvPr/>
        </p:nvSpPr>
        <p:spPr>
          <a:xfrm>
            <a:off x="400812" y="1816608"/>
            <a:ext cx="3206750" cy="81280"/>
          </a:xfrm>
          <a:custGeom>
            <a:avLst/>
            <a:gdLst/>
            <a:ahLst/>
            <a:cxnLst/>
            <a:rect l="l" t="t" r="r" b="b"/>
            <a:pathLst>
              <a:path w="3206750" h="81280">
                <a:moveTo>
                  <a:pt x="3206495" y="80771"/>
                </a:moveTo>
                <a:lnTo>
                  <a:pt x="0" y="80771"/>
                </a:lnTo>
                <a:lnTo>
                  <a:pt x="0" y="0"/>
                </a:lnTo>
                <a:lnTo>
                  <a:pt x="3206495" y="0"/>
                </a:lnTo>
                <a:lnTo>
                  <a:pt x="3206495" y="80771"/>
                </a:lnTo>
                <a:close/>
              </a:path>
            </a:pathLst>
          </a:custGeom>
          <a:solidFill>
            <a:srgbClr val="24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68864" y="2006748"/>
            <a:ext cx="3037840" cy="14687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4315" indent="-221615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234315" algn="l"/>
              </a:tabLst>
            </a:pP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Next</a:t>
            </a:r>
            <a:r>
              <a:rPr dirty="0" sz="1550" spc="5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Due</a:t>
            </a:r>
            <a:r>
              <a:rPr dirty="0" sz="1550" spc="6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spc="-20" b="1">
                <a:solidFill>
                  <a:srgbClr val="111826"/>
                </a:solidFill>
                <a:latin typeface="Gadugi"/>
                <a:cs typeface="Gadugi"/>
              </a:rPr>
              <a:t>Date</a:t>
            </a:r>
            <a:endParaRPr sz="15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next_due</a:t>
            </a:r>
            <a:r>
              <a:rPr dirty="0" sz="11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=</a:t>
            </a:r>
            <a:r>
              <a:rPr dirty="0" sz="1100" spc="9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inspection_date</a:t>
            </a:r>
            <a:r>
              <a:rPr dirty="0" sz="110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+</a:t>
            </a:r>
            <a:r>
              <a:rPr dirty="0" sz="1100" spc="9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111826"/>
                </a:solidFill>
                <a:latin typeface="Segoe UI"/>
                <a:cs typeface="Segoe UI"/>
              </a:rPr>
              <a:t>interval_months</a:t>
            </a:r>
            <a:endParaRPr sz="1100">
              <a:latin typeface="Segoe UI"/>
              <a:cs typeface="Segoe UI"/>
            </a:endParaRPr>
          </a:p>
          <a:p>
            <a:pPr lvl="1" marL="108585" indent="-95885">
              <a:lnSpc>
                <a:spcPct val="100000"/>
              </a:lnSpc>
              <a:spcBef>
                <a:spcPts val="1415"/>
              </a:spcBef>
              <a:buChar char="•"/>
              <a:tabLst>
                <a:tab pos="108585" algn="l"/>
              </a:tabLst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Calculated</a:t>
            </a:r>
            <a:r>
              <a:rPr dirty="0" sz="1100" spc="9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on</a:t>
            </a:r>
            <a:r>
              <a:rPr dirty="0" sz="1100" spc="9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server</a:t>
            </a:r>
            <a:r>
              <a:rPr dirty="0" sz="110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when</a:t>
            </a:r>
            <a:r>
              <a:rPr dirty="0" sz="11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inspection</a:t>
            </a:r>
            <a:r>
              <a:rPr dirty="0" sz="1100" spc="9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is</a:t>
            </a:r>
            <a:r>
              <a:rPr dirty="0" sz="1100" spc="9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20">
                <a:solidFill>
                  <a:srgbClr val="111826"/>
                </a:solidFill>
                <a:latin typeface="Segoe UI"/>
                <a:cs typeface="Segoe UI"/>
              </a:rPr>
              <a:t>saved</a:t>
            </a:r>
            <a:endParaRPr sz="1100">
              <a:latin typeface="Segoe UI"/>
              <a:cs typeface="Segoe UI"/>
            </a:endParaRPr>
          </a:p>
          <a:p>
            <a:pPr lvl="1" marL="108585" indent="-95885">
              <a:lnSpc>
                <a:spcPct val="100000"/>
              </a:lnSpc>
              <a:spcBef>
                <a:spcPts val="45"/>
              </a:spcBef>
              <a:buChar char="•"/>
              <a:tabLst>
                <a:tab pos="108585" algn="l"/>
              </a:tabLst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Uses</a:t>
            </a:r>
            <a:r>
              <a:rPr dirty="0" sz="11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calendar</a:t>
            </a:r>
            <a:r>
              <a:rPr dirty="0" sz="110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months</a:t>
            </a:r>
            <a:r>
              <a:rPr dirty="0" sz="11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(not</a:t>
            </a:r>
            <a:r>
              <a:rPr dirty="0" sz="110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+30</a:t>
            </a:r>
            <a:r>
              <a:rPr dirty="0" sz="110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20">
                <a:solidFill>
                  <a:srgbClr val="111826"/>
                </a:solidFill>
                <a:latin typeface="Segoe UI"/>
                <a:cs typeface="Segoe UI"/>
              </a:rPr>
              <a:t>days)</a:t>
            </a:r>
            <a:endParaRPr sz="1100">
              <a:latin typeface="Segoe UI"/>
              <a:cs typeface="Segoe UI"/>
            </a:endParaRPr>
          </a:p>
          <a:p>
            <a:pPr lvl="1" marL="108585" indent="-95885">
              <a:lnSpc>
                <a:spcPct val="100000"/>
              </a:lnSpc>
              <a:spcBef>
                <a:spcPts val="50"/>
              </a:spcBef>
              <a:buChar char="•"/>
              <a:tabLst>
                <a:tab pos="108585" algn="l"/>
              </a:tabLst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Example:</a:t>
            </a:r>
            <a:r>
              <a:rPr dirty="0" sz="1100" spc="114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2024-03-15</a:t>
            </a:r>
            <a:r>
              <a:rPr dirty="0" sz="1100" spc="1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+</a:t>
            </a:r>
            <a:r>
              <a:rPr dirty="0" sz="1100" spc="1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12mo</a:t>
            </a:r>
            <a:r>
              <a:rPr dirty="0" sz="1100" spc="1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=</a:t>
            </a:r>
            <a:r>
              <a:rPr dirty="0" sz="1100" spc="1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2025-03-</a:t>
            </a:r>
            <a:r>
              <a:rPr dirty="0" sz="1100" spc="-25">
                <a:solidFill>
                  <a:srgbClr val="111826"/>
                </a:solidFill>
                <a:latin typeface="Segoe UI"/>
                <a:cs typeface="Segoe UI"/>
              </a:rPr>
              <a:t>15</a:t>
            </a:r>
            <a:endParaRPr sz="1100">
              <a:latin typeface="Segoe UI"/>
              <a:cs typeface="Segoe UI"/>
            </a:endParaRPr>
          </a:p>
          <a:p>
            <a:pPr lvl="1" marL="108585" indent="-95885">
              <a:lnSpc>
                <a:spcPct val="100000"/>
              </a:lnSpc>
              <a:spcBef>
                <a:spcPts val="50"/>
              </a:spcBef>
              <a:buChar char="•"/>
              <a:tabLst>
                <a:tab pos="108585" algn="l"/>
              </a:tabLst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Stored</a:t>
            </a:r>
            <a:r>
              <a:rPr dirty="0" sz="11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as</a:t>
            </a:r>
            <a:r>
              <a:rPr dirty="0" sz="11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new</a:t>
            </a:r>
            <a:r>
              <a:rPr dirty="0" sz="11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row</a:t>
            </a:r>
            <a:r>
              <a:rPr dirty="0" sz="11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—</a:t>
            </a:r>
            <a:r>
              <a:rPr dirty="0" sz="110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never</a:t>
            </a:r>
            <a:r>
              <a:rPr dirty="0" sz="11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111826"/>
                </a:solidFill>
                <a:latin typeface="Segoe UI"/>
                <a:cs typeface="Segoe UI"/>
              </a:rPr>
              <a:t>overwritten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68852" y="1816608"/>
            <a:ext cx="3206750" cy="81280"/>
          </a:xfrm>
          <a:custGeom>
            <a:avLst/>
            <a:gdLst/>
            <a:ahLst/>
            <a:cxnLst/>
            <a:rect l="l" t="t" r="r" b="b"/>
            <a:pathLst>
              <a:path w="3206750" h="81280">
                <a:moveTo>
                  <a:pt x="3206496" y="80771"/>
                </a:moveTo>
                <a:lnTo>
                  <a:pt x="0" y="80771"/>
                </a:lnTo>
                <a:lnTo>
                  <a:pt x="0" y="0"/>
                </a:lnTo>
                <a:lnTo>
                  <a:pt x="3206496" y="0"/>
                </a:lnTo>
                <a:lnTo>
                  <a:pt x="3206496" y="80771"/>
                </a:lnTo>
                <a:close/>
              </a:path>
            </a:pathLst>
          </a:custGeom>
          <a:solidFill>
            <a:srgbClr val="F49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835409" y="2006748"/>
            <a:ext cx="2884170" cy="1816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6220" indent="-223520">
              <a:lnSpc>
                <a:spcPct val="100000"/>
              </a:lnSpc>
              <a:spcBef>
                <a:spcPts val="130"/>
              </a:spcBef>
              <a:buAutoNum type="arabicPeriod" startAt="2"/>
              <a:tabLst>
                <a:tab pos="236220" algn="l"/>
              </a:tabLst>
            </a:pP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Urgency</a:t>
            </a:r>
            <a:r>
              <a:rPr dirty="0" sz="1550" spc="55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spc="-10" b="1">
                <a:solidFill>
                  <a:srgbClr val="111826"/>
                </a:solidFill>
                <a:latin typeface="Gadugi"/>
                <a:cs typeface="Gadugi"/>
              </a:rPr>
              <a:t>Status</a:t>
            </a:r>
            <a:endParaRPr sz="1550">
              <a:latin typeface="Gadugi"/>
              <a:cs typeface="Gadugi"/>
            </a:endParaRPr>
          </a:p>
          <a:p>
            <a:pPr marL="12700" marR="5080">
              <a:lnSpc>
                <a:spcPct val="103600"/>
              </a:lnSpc>
              <a:spcBef>
                <a:spcPts val="1255"/>
              </a:spcBef>
              <a:tabLst>
                <a:tab pos="1630680" algn="l"/>
              </a:tabLst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IF</a:t>
            </a:r>
            <a:r>
              <a:rPr dirty="0" sz="11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next_due</a:t>
            </a:r>
            <a:r>
              <a:rPr dirty="0" sz="110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&lt;</a:t>
            </a:r>
            <a:r>
              <a:rPr dirty="0" sz="110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20">
                <a:solidFill>
                  <a:srgbClr val="111826"/>
                </a:solidFill>
                <a:latin typeface="Segoe UI"/>
                <a:cs typeface="Segoe UI"/>
              </a:rPr>
              <a:t>TODAY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	→</a:t>
            </a:r>
            <a:r>
              <a:rPr dirty="0" sz="110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OVERDUE</a:t>
            </a:r>
            <a:r>
              <a:rPr dirty="0" sz="110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20">
                <a:solidFill>
                  <a:srgbClr val="111826"/>
                </a:solidFill>
                <a:latin typeface="Segoe UI"/>
                <a:cs typeface="Segoe UI"/>
              </a:rPr>
              <a:t>(red)</a:t>
            </a:r>
            <a:r>
              <a:rPr dirty="0" sz="1100" spc="50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IF</a:t>
            </a:r>
            <a:r>
              <a:rPr dirty="0" sz="11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next_due</a:t>
            </a:r>
            <a:r>
              <a:rPr dirty="0" sz="11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≤</a:t>
            </a:r>
            <a:r>
              <a:rPr dirty="0" sz="11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TODAY+30</a:t>
            </a:r>
            <a:r>
              <a:rPr dirty="0" sz="1100" spc="200">
                <a:solidFill>
                  <a:srgbClr val="111826"/>
                </a:solidFill>
                <a:latin typeface="Segoe UI"/>
                <a:cs typeface="Segoe UI"/>
              </a:rPr>
              <a:t> 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→</a:t>
            </a:r>
            <a:r>
              <a:rPr dirty="0" sz="110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111826"/>
                </a:solidFill>
                <a:latin typeface="Segoe UI"/>
                <a:cs typeface="Segoe UI"/>
              </a:rPr>
              <a:t>APPROACHING (yellow)</a:t>
            </a:r>
            <a:endParaRPr sz="11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1173480" algn="l"/>
              </a:tabLst>
            </a:pPr>
            <a:r>
              <a:rPr dirty="0" sz="1100" spc="-20">
                <a:solidFill>
                  <a:srgbClr val="111826"/>
                </a:solidFill>
                <a:latin typeface="Segoe UI"/>
                <a:cs typeface="Segoe UI"/>
              </a:rPr>
              <a:t>ELSE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	→</a:t>
            </a:r>
            <a:r>
              <a:rPr dirty="0" sz="11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GOOD</a:t>
            </a:r>
            <a:r>
              <a:rPr dirty="0" sz="110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111826"/>
                </a:solidFill>
                <a:latin typeface="Segoe UI"/>
                <a:cs typeface="Segoe UI"/>
              </a:rPr>
              <a:t>(green)</a:t>
            </a:r>
            <a:endParaRPr sz="1100">
              <a:latin typeface="Segoe UI"/>
              <a:cs typeface="Segoe UI"/>
            </a:endParaRPr>
          </a:p>
          <a:p>
            <a:pPr lvl="1" marL="110489" indent="-97790">
              <a:lnSpc>
                <a:spcPct val="100000"/>
              </a:lnSpc>
              <a:spcBef>
                <a:spcPts val="1415"/>
              </a:spcBef>
              <a:buChar char="•"/>
              <a:tabLst>
                <a:tab pos="110489" algn="l"/>
              </a:tabLst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Derived</a:t>
            </a:r>
            <a:r>
              <a:rPr dirty="0" sz="11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at</a:t>
            </a:r>
            <a:r>
              <a:rPr dirty="0" sz="110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query</a:t>
            </a:r>
            <a:r>
              <a:rPr dirty="0" sz="11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time,</a:t>
            </a:r>
            <a:r>
              <a:rPr dirty="0" sz="110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not</a:t>
            </a:r>
            <a:r>
              <a:rPr dirty="0" sz="110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111826"/>
                </a:solidFill>
                <a:latin typeface="Segoe UI"/>
                <a:cs typeface="Segoe UI"/>
              </a:rPr>
              <a:t>stored</a:t>
            </a:r>
            <a:endParaRPr sz="1100">
              <a:latin typeface="Segoe UI"/>
              <a:cs typeface="Segoe UI"/>
            </a:endParaRPr>
          </a:p>
          <a:p>
            <a:pPr lvl="1" marL="110489" indent="-97790">
              <a:lnSpc>
                <a:spcPct val="100000"/>
              </a:lnSpc>
              <a:spcBef>
                <a:spcPts val="50"/>
              </a:spcBef>
              <a:buChar char="•"/>
              <a:tabLst>
                <a:tab pos="110489" algn="l"/>
              </a:tabLst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List</a:t>
            </a:r>
            <a:r>
              <a:rPr dirty="0" sz="11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ordered</a:t>
            </a:r>
            <a:r>
              <a:rPr dirty="0" sz="11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by</a:t>
            </a:r>
            <a:r>
              <a:rPr dirty="0" sz="11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this</a:t>
            </a:r>
            <a:r>
              <a:rPr dirty="0" sz="11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111826"/>
                </a:solidFill>
                <a:latin typeface="Segoe UI"/>
                <a:cs typeface="Segoe UI"/>
              </a:rPr>
              <a:t>status</a:t>
            </a:r>
            <a:endParaRPr sz="1100">
              <a:latin typeface="Segoe UI"/>
              <a:cs typeface="Segoe UI"/>
            </a:endParaRPr>
          </a:p>
          <a:p>
            <a:pPr lvl="1" marL="110489" indent="-97790">
              <a:lnSpc>
                <a:spcPct val="100000"/>
              </a:lnSpc>
              <a:spcBef>
                <a:spcPts val="45"/>
              </a:spcBef>
              <a:buChar char="•"/>
              <a:tabLst>
                <a:tab pos="110489" algn="l"/>
              </a:tabLst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Overdue</a:t>
            </a:r>
            <a:r>
              <a:rPr dirty="0" sz="110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items</a:t>
            </a:r>
            <a:r>
              <a:rPr dirty="0" sz="1100" spc="9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always</a:t>
            </a:r>
            <a:r>
              <a:rPr dirty="0" sz="1100" spc="9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appear</a:t>
            </a:r>
            <a:r>
              <a:rPr dirty="0" sz="110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20">
                <a:solidFill>
                  <a:srgbClr val="111826"/>
                </a:solidFill>
                <a:latin typeface="Segoe UI"/>
                <a:cs typeface="Segoe UI"/>
              </a:rPr>
              <a:t>first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35367" y="1816608"/>
            <a:ext cx="3206750" cy="81280"/>
          </a:xfrm>
          <a:custGeom>
            <a:avLst/>
            <a:gdLst/>
            <a:ahLst/>
            <a:cxnLst/>
            <a:rect l="l" t="t" r="r" b="b"/>
            <a:pathLst>
              <a:path w="3206750" h="81280">
                <a:moveTo>
                  <a:pt x="3206496" y="80771"/>
                </a:moveTo>
                <a:lnTo>
                  <a:pt x="0" y="80771"/>
                </a:lnTo>
                <a:lnTo>
                  <a:pt x="0" y="0"/>
                </a:lnTo>
                <a:lnTo>
                  <a:pt x="3206496" y="0"/>
                </a:lnTo>
                <a:lnTo>
                  <a:pt x="3206496" y="80771"/>
                </a:lnTo>
                <a:close/>
              </a:path>
            </a:pathLst>
          </a:custGeom>
          <a:solidFill>
            <a:srgbClr val="16A3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203425" y="2006748"/>
            <a:ext cx="2506345" cy="268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4315" indent="-221615">
              <a:lnSpc>
                <a:spcPct val="100000"/>
              </a:lnSpc>
              <a:spcBef>
                <a:spcPts val="130"/>
              </a:spcBef>
              <a:buAutoNum type="arabicPeriod" startAt="3"/>
              <a:tabLst>
                <a:tab pos="234315" algn="l"/>
              </a:tabLst>
            </a:pP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ML</a:t>
            </a:r>
            <a:r>
              <a:rPr dirty="0" sz="1550" spc="4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Risk</a:t>
            </a:r>
            <a:r>
              <a:rPr dirty="0" sz="1550" spc="35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spc="-10" b="1">
                <a:solidFill>
                  <a:srgbClr val="111826"/>
                </a:solidFill>
                <a:latin typeface="Gadugi"/>
                <a:cs typeface="Gadugi"/>
              </a:rPr>
              <a:t>Prediction</a:t>
            </a:r>
            <a:endParaRPr sz="1550">
              <a:latin typeface="Gadugi"/>
              <a:cs typeface="Gadugi"/>
            </a:endParaRPr>
          </a:p>
          <a:p>
            <a:pPr marL="12700" marR="941069">
              <a:lnSpc>
                <a:spcPts val="2740"/>
              </a:lnSpc>
              <a:spcBef>
                <a:spcPts val="210"/>
              </a:spcBef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Random</a:t>
            </a:r>
            <a:r>
              <a:rPr dirty="0" sz="110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Forest</a:t>
            </a:r>
            <a:r>
              <a:rPr dirty="0" sz="110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111826"/>
                </a:solidFill>
                <a:latin typeface="Segoe UI"/>
                <a:cs typeface="Segoe UI"/>
              </a:rPr>
              <a:t>classifier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Features</a:t>
            </a:r>
            <a:r>
              <a:rPr dirty="0" sz="110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111826"/>
                </a:solidFill>
                <a:latin typeface="Segoe UI"/>
                <a:cs typeface="Segoe UI"/>
              </a:rPr>
              <a:t>used:</a:t>
            </a:r>
            <a:endParaRPr sz="1100">
              <a:latin typeface="Segoe UI"/>
              <a:cs typeface="Segoe UI"/>
            </a:endParaRPr>
          </a:p>
          <a:p>
            <a:pPr lvl="1" marL="108585" indent="-95885">
              <a:lnSpc>
                <a:spcPts val="1035"/>
              </a:lnSpc>
              <a:buChar char="•"/>
              <a:tabLst>
                <a:tab pos="108585" algn="l"/>
              </a:tabLst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Equipment</a:t>
            </a:r>
            <a:r>
              <a:rPr dirty="0" sz="110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age,</a:t>
            </a:r>
            <a:r>
              <a:rPr dirty="0" sz="1100" spc="9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days</a:t>
            </a:r>
            <a:r>
              <a:rPr dirty="0" sz="1100" spc="9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since</a:t>
            </a:r>
            <a:r>
              <a:rPr dirty="0" sz="110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111826"/>
                </a:solidFill>
                <a:latin typeface="Segoe UI"/>
                <a:cs typeface="Segoe UI"/>
              </a:rPr>
              <a:t>inspection</a:t>
            </a:r>
            <a:endParaRPr sz="1100">
              <a:latin typeface="Segoe UI"/>
              <a:cs typeface="Segoe UI"/>
            </a:endParaRPr>
          </a:p>
          <a:p>
            <a:pPr lvl="1" marL="108585" indent="-95885">
              <a:lnSpc>
                <a:spcPct val="100000"/>
              </a:lnSpc>
              <a:spcBef>
                <a:spcPts val="50"/>
              </a:spcBef>
              <a:buChar char="•"/>
              <a:tabLst>
                <a:tab pos="108585" algn="l"/>
              </a:tabLst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Days</a:t>
            </a:r>
            <a:r>
              <a:rPr dirty="0" sz="1100" spc="6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until</a:t>
            </a:r>
            <a:r>
              <a:rPr dirty="0" sz="11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due,</a:t>
            </a:r>
            <a:r>
              <a:rPr dirty="0" sz="11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failure</a:t>
            </a:r>
            <a:r>
              <a:rPr dirty="0" sz="110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20">
                <a:solidFill>
                  <a:srgbClr val="111826"/>
                </a:solidFill>
                <a:latin typeface="Segoe UI"/>
                <a:cs typeface="Segoe UI"/>
              </a:rPr>
              <a:t>rate</a:t>
            </a:r>
            <a:endParaRPr sz="1100">
              <a:latin typeface="Segoe UI"/>
              <a:cs typeface="Segoe UI"/>
            </a:endParaRPr>
          </a:p>
          <a:p>
            <a:pPr lvl="1" marL="108585" indent="-95885">
              <a:lnSpc>
                <a:spcPct val="100000"/>
              </a:lnSpc>
              <a:spcBef>
                <a:spcPts val="45"/>
              </a:spcBef>
              <a:buChar char="•"/>
              <a:tabLst>
                <a:tab pos="108585" algn="l"/>
              </a:tabLst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Equipment</a:t>
            </a:r>
            <a:r>
              <a:rPr dirty="0" sz="1100" spc="10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type,</a:t>
            </a:r>
            <a:r>
              <a:rPr dirty="0" sz="1100" spc="1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building</a:t>
            </a:r>
            <a:r>
              <a:rPr dirty="0" sz="1100" spc="1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111826"/>
                </a:solidFill>
                <a:latin typeface="Segoe UI"/>
                <a:cs typeface="Segoe UI"/>
              </a:rPr>
              <a:t>location</a:t>
            </a:r>
            <a:endParaRPr sz="1100">
              <a:latin typeface="Segoe UI"/>
              <a:cs typeface="Segoe UI"/>
            </a:endParaRPr>
          </a:p>
          <a:p>
            <a:pPr lvl="1" marL="108585" indent="-95885">
              <a:lnSpc>
                <a:spcPct val="100000"/>
              </a:lnSpc>
              <a:spcBef>
                <a:spcPts val="50"/>
              </a:spcBef>
              <a:buChar char="•"/>
              <a:tabLst>
                <a:tab pos="108585" algn="l"/>
              </a:tabLst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Past</a:t>
            </a:r>
            <a:r>
              <a:rPr dirty="0" sz="110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inspection</a:t>
            </a:r>
            <a:r>
              <a:rPr dirty="0" sz="1100" spc="9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111826"/>
                </a:solidFill>
                <a:latin typeface="Segoe UI"/>
                <a:cs typeface="Segoe UI"/>
              </a:rPr>
              <a:t>frequency</a:t>
            </a:r>
            <a:endParaRPr sz="11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NOT</a:t>
            </a:r>
            <a:r>
              <a:rPr dirty="0" sz="11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used</a:t>
            </a:r>
            <a:r>
              <a:rPr dirty="0" sz="11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(would</a:t>
            </a:r>
            <a:r>
              <a:rPr dirty="0" sz="110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be</a:t>
            </a:r>
            <a:r>
              <a:rPr dirty="0" sz="11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111826"/>
                </a:solidFill>
                <a:latin typeface="Segoe UI"/>
                <a:cs typeface="Segoe UI"/>
              </a:rPr>
              <a:t>cheating):</a:t>
            </a:r>
            <a:endParaRPr sz="1100">
              <a:latin typeface="Segoe UI"/>
              <a:cs typeface="Segoe UI"/>
            </a:endParaRPr>
          </a:p>
          <a:p>
            <a:pPr lvl="1" marL="108585" indent="-95885">
              <a:lnSpc>
                <a:spcPct val="100000"/>
              </a:lnSpc>
              <a:spcBef>
                <a:spcPts val="50"/>
              </a:spcBef>
              <a:buChar char="•"/>
              <a:tabLst>
                <a:tab pos="108585" algn="l"/>
              </a:tabLst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Actual</a:t>
            </a:r>
            <a:r>
              <a:rPr dirty="0" sz="110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next</a:t>
            </a:r>
            <a:r>
              <a:rPr dirty="0" sz="110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due</a:t>
            </a:r>
            <a:r>
              <a:rPr dirty="0" sz="1100" spc="6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20">
                <a:solidFill>
                  <a:srgbClr val="111826"/>
                </a:solidFill>
                <a:latin typeface="Segoe UI"/>
                <a:cs typeface="Segoe UI"/>
              </a:rPr>
              <a:t>date</a:t>
            </a:r>
            <a:endParaRPr sz="1100">
              <a:latin typeface="Segoe UI"/>
              <a:cs typeface="Segoe UI"/>
            </a:endParaRPr>
          </a:p>
          <a:p>
            <a:pPr lvl="1" marL="108585" indent="-95885">
              <a:lnSpc>
                <a:spcPct val="100000"/>
              </a:lnSpc>
              <a:spcBef>
                <a:spcPts val="45"/>
              </a:spcBef>
              <a:buChar char="•"/>
              <a:tabLst>
                <a:tab pos="108585" algn="l"/>
              </a:tabLst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Current</a:t>
            </a:r>
            <a:r>
              <a:rPr dirty="0" sz="11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urgency</a:t>
            </a:r>
            <a:r>
              <a:rPr dirty="0" sz="110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111826"/>
                </a:solidFill>
                <a:latin typeface="Segoe UI"/>
                <a:cs typeface="Segoe UI"/>
              </a:rPr>
              <a:t>status</a:t>
            </a:r>
            <a:endParaRPr sz="11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Output:</a:t>
            </a:r>
            <a:r>
              <a:rPr dirty="0" sz="110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at_risk</a:t>
            </a:r>
            <a:r>
              <a:rPr dirty="0" sz="11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+</a:t>
            </a:r>
            <a:r>
              <a:rPr dirty="0" sz="1100" spc="9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111826"/>
                </a:solidFill>
                <a:latin typeface="Segoe UI"/>
                <a:cs typeface="Segoe UI"/>
              </a:rPr>
              <a:t>confidence</a:t>
            </a:r>
            <a:r>
              <a:rPr dirty="0" sz="1100" spc="9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100" spc="-20">
                <a:solidFill>
                  <a:srgbClr val="111826"/>
                </a:solidFill>
                <a:latin typeface="Segoe UI"/>
                <a:cs typeface="Segoe UI"/>
              </a:rPr>
              <a:t>score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0812" y="5423915"/>
            <a:ext cx="9862185" cy="1042669"/>
          </a:xfrm>
          <a:prstGeom prst="rect">
            <a:avLst/>
          </a:prstGeom>
          <a:solidFill>
            <a:srgbClr val="F2F4F6"/>
          </a:solidFill>
        </p:spPr>
        <p:txBody>
          <a:bodyPr wrap="square" lIns="0" tIns="165735" rIns="0" bIns="0" rtlCol="0" vert="horz">
            <a:spAutoFit/>
          </a:bodyPr>
          <a:lstStyle/>
          <a:p>
            <a:pPr marL="321310">
              <a:lnSpc>
                <a:spcPct val="100000"/>
              </a:lnSpc>
              <a:spcBef>
                <a:spcPts val="1305"/>
              </a:spcBef>
            </a:pPr>
            <a:r>
              <a:rPr dirty="0" sz="1200" b="1">
                <a:solidFill>
                  <a:srgbClr val="111826"/>
                </a:solidFill>
                <a:latin typeface="Gadugi"/>
                <a:cs typeface="Gadugi"/>
              </a:rPr>
              <a:t>Hand-Checked</a:t>
            </a:r>
            <a:r>
              <a:rPr dirty="0" sz="1200" spc="9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200" spc="-10" b="1">
                <a:solidFill>
                  <a:srgbClr val="111826"/>
                </a:solidFill>
                <a:latin typeface="Gadugi"/>
                <a:cs typeface="Gadugi"/>
              </a:rPr>
              <a:t>Example:</a:t>
            </a:r>
            <a:endParaRPr sz="1200">
              <a:latin typeface="Gadugi"/>
              <a:cs typeface="Gadugi"/>
            </a:endParaRPr>
          </a:p>
          <a:p>
            <a:pPr marL="4525645" marR="565150" indent="-4115435">
              <a:lnSpc>
                <a:spcPct val="101699"/>
              </a:lnSpc>
              <a:spcBef>
                <a:spcPts val="755"/>
              </a:spcBef>
            </a:pP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Equipment</a:t>
            </a:r>
            <a:r>
              <a:rPr dirty="0" sz="1200" spc="6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CO2-MBD-2-1001</a:t>
            </a:r>
            <a:r>
              <a:rPr dirty="0" sz="1200" spc="5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|</a:t>
            </a:r>
            <a:r>
              <a:rPr dirty="0" sz="1200" spc="4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Installed:</a:t>
            </a:r>
            <a:r>
              <a:rPr dirty="0" sz="1200" spc="5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2022-01-10</a:t>
            </a:r>
            <a:r>
              <a:rPr dirty="0" sz="1200" spc="7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|</a:t>
            </a:r>
            <a:r>
              <a:rPr dirty="0" sz="1200" spc="4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Last</a:t>
            </a:r>
            <a:r>
              <a:rPr dirty="0" sz="1200" spc="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inspected:</a:t>
            </a:r>
            <a:r>
              <a:rPr dirty="0" sz="1200" spc="5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2024-01-10</a:t>
            </a:r>
            <a:r>
              <a:rPr dirty="0" sz="1200" spc="4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|</a:t>
            </a:r>
            <a:r>
              <a:rPr dirty="0" sz="1200" spc="6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Interval:</a:t>
            </a:r>
            <a:r>
              <a:rPr dirty="0" sz="1200" spc="5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12mo</a:t>
            </a:r>
            <a:r>
              <a:rPr dirty="0" sz="1200" spc="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|</a:t>
            </a:r>
            <a:r>
              <a:rPr dirty="0" sz="1200" spc="5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Next</a:t>
            </a:r>
            <a:r>
              <a:rPr dirty="0" sz="1200" spc="6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due:</a:t>
            </a:r>
            <a:r>
              <a:rPr dirty="0" sz="1200" spc="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2025-01-10</a:t>
            </a:r>
            <a:r>
              <a:rPr dirty="0" sz="1200" spc="5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|</a:t>
            </a:r>
            <a:r>
              <a:rPr dirty="0" sz="1200" spc="5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6B7280"/>
                </a:solidFill>
                <a:latin typeface="Segoe UI"/>
                <a:cs typeface="Segoe UI"/>
              </a:rPr>
              <a:t>Status: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GOOD</a:t>
            </a:r>
            <a:r>
              <a:rPr dirty="0" sz="1200" spc="7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 spc="-50">
                <a:solidFill>
                  <a:srgbClr val="6B7280"/>
                </a:solidFill>
                <a:latin typeface="Segoe UI Symbol"/>
                <a:cs typeface="Segoe UI Symbol"/>
              </a:rPr>
              <a:t>✓</a:t>
            </a:r>
            <a:endParaRPr sz="12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34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WHAT</a:t>
            </a:r>
            <a:r>
              <a:rPr dirty="0" spc="-85"/>
              <a:t> </a:t>
            </a:r>
            <a:r>
              <a:rPr dirty="0"/>
              <a:t>WORKS</a:t>
            </a:r>
            <a:r>
              <a:rPr dirty="0" spc="-95"/>
              <a:t> </a:t>
            </a:r>
            <a:r>
              <a:rPr dirty="0"/>
              <a:t>AND</a:t>
            </a:r>
            <a:r>
              <a:rPr dirty="0" spc="-85"/>
              <a:t> </a:t>
            </a:r>
            <a:r>
              <a:rPr dirty="0" spc="-10"/>
              <a:t>WHAT</a:t>
            </a:r>
            <a:r>
              <a:rPr dirty="0" spc="-85"/>
              <a:t> </a:t>
            </a:r>
            <a:r>
              <a:rPr dirty="0"/>
              <a:t>IS</a:t>
            </a:r>
            <a:r>
              <a:rPr dirty="0" spc="-65"/>
              <a:t> </a:t>
            </a:r>
            <a:r>
              <a:rPr dirty="0" spc="-10"/>
              <a:t>UNFINISHED</a:t>
            </a:r>
          </a:p>
        </p:txBody>
      </p:sp>
      <p:sp>
        <p:nvSpPr>
          <p:cNvPr id="3" name="object 3"/>
          <p:cNvSpPr/>
          <p:nvPr/>
        </p:nvSpPr>
        <p:spPr>
          <a:xfrm>
            <a:off x="400812" y="1816608"/>
            <a:ext cx="81280" cy="4410710"/>
          </a:xfrm>
          <a:custGeom>
            <a:avLst/>
            <a:gdLst/>
            <a:ahLst/>
            <a:cxnLst/>
            <a:rect l="l" t="t" r="r" b="b"/>
            <a:pathLst>
              <a:path w="81279" h="4410710">
                <a:moveTo>
                  <a:pt x="80771" y="4410456"/>
                </a:moveTo>
                <a:lnTo>
                  <a:pt x="0" y="4410456"/>
                </a:lnTo>
                <a:lnTo>
                  <a:pt x="0" y="0"/>
                </a:lnTo>
                <a:lnTo>
                  <a:pt x="80771" y="0"/>
                </a:lnTo>
                <a:lnTo>
                  <a:pt x="80771" y="4410456"/>
                </a:lnTo>
                <a:close/>
              </a:path>
            </a:pathLst>
          </a:custGeom>
          <a:solidFill>
            <a:srgbClr val="16A3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09675" y="1847901"/>
            <a:ext cx="3230880" cy="3338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solidFill>
                  <a:srgbClr val="111826"/>
                </a:solidFill>
                <a:latin typeface="Gadugi"/>
                <a:cs typeface="Gadugi"/>
              </a:rPr>
              <a:t>What</a:t>
            </a:r>
            <a:r>
              <a:rPr dirty="0" sz="1750" spc="-65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750" b="1">
                <a:solidFill>
                  <a:srgbClr val="111826"/>
                </a:solidFill>
                <a:latin typeface="Gadugi"/>
                <a:cs typeface="Gadugi"/>
              </a:rPr>
              <a:t>Works</a:t>
            </a:r>
            <a:r>
              <a:rPr dirty="0" sz="1750" spc="-65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750" spc="-490" b="1">
                <a:solidFill>
                  <a:srgbClr val="111826"/>
                </a:solidFill>
                <a:latin typeface="Yu Gothic UI"/>
                <a:cs typeface="Yu Gothic UI"/>
              </a:rPr>
              <a:t>✓</a:t>
            </a:r>
            <a:endParaRPr sz="1750">
              <a:latin typeface="Yu Gothic UI"/>
              <a:cs typeface="Yu Gothic UI"/>
            </a:endParaRPr>
          </a:p>
          <a:p>
            <a:pPr marL="251460" indent="-238760">
              <a:lnSpc>
                <a:spcPct val="100000"/>
              </a:lnSpc>
              <a:spcBef>
                <a:spcPts val="1070"/>
              </a:spcBef>
              <a:buFont typeface="Segoe UI Symbol"/>
              <a:buChar char="✓"/>
              <a:tabLst>
                <a:tab pos="251460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Add</a:t>
            </a:r>
            <a:r>
              <a:rPr dirty="0" sz="120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equipment</a:t>
            </a:r>
            <a:r>
              <a:rPr dirty="0" sz="120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with</a:t>
            </a:r>
            <a:r>
              <a:rPr dirty="0" sz="12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server-side</a:t>
            </a:r>
            <a:r>
              <a:rPr dirty="0" sz="120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validation</a:t>
            </a:r>
            <a:endParaRPr sz="1200">
              <a:latin typeface="Segoe UI"/>
              <a:cs typeface="Segoe UI"/>
            </a:endParaRPr>
          </a:p>
          <a:p>
            <a:pPr marL="251460" indent="-238760">
              <a:lnSpc>
                <a:spcPct val="100000"/>
              </a:lnSpc>
              <a:spcBef>
                <a:spcPts val="560"/>
              </a:spcBef>
              <a:buFont typeface="Segoe UI Symbol"/>
              <a:buChar char="✓"/>
              <a:tabLst>
                <a:tab pos="251460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Automatic</a:t>
            </a:r>
            <a:r>
              <a:rPr dirty="0" sz="1200" spc="6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next-due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date</a:t>
            </a:r>
            <a:r>
              <a:rPr dirty="0" sz="120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calculation</a:t>
            </a:r>
            <a:endParaRPr sz="1200">
              <a:latin typeface="Segoe UI"/>
              <a:cs typeface="Segoe UI"/>
            </a:endParaRPr>
          </a:p>
          <a:p>
            <a:pPr marL="251460" indent="-238760">
              <a:lnSpc>
                <a:spcPct val="100000"/>
              </a:lnSpc>
              <a:spcBef>
                <a:spcPts val="555"/>
              </a:spcBef>
              <a:buFont typeface="Segoe UI Symbol"/>
              <a:buChar char="✓"/>
              <a:tabLst>
                <a:tab pos="251460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Record</a:t>
            </a:r>
            <a:r>
              <a:rPr dirty="0" sz="1200" spc="6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inspection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with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full</a:t>
            </a:r>
            <a:r>
              <a:rPr dirty="0" sz="12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validation</a:t>
            </a:r>
            <a:endParaRPr sz="1200">
              <a:latin typeface="Segoe UI"/>
              <a:cs typeface="Segoe UI"/>
            </a:endParaRPr>
          </a:p>
          <a:p>
            <a:pPr marL="12700" marR="805815" indent="238760">
              <a:lnSpc>
                <a:spcPct val="102499"/>
              </a:lnSpc>
              <a:spcBef>
                <a:spcPts val="525"/>
              </a:spcBef>
              <a:buFont typeface="Segoe UI Symbol"/>
              <a:buChar char="✓"/>
              <a:tabLst>
                <a:tab pos="251460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Dashboard</a:t>
            </a:r>
            <a:r>
              <a:rPr dirty="0" sz="120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with</a:t>
            </a:r>
            <a:r>
              <a:rPr dirty="0" sz="12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summary</a:t>
            </a:r>
            <a:r>
              <a:rPr dirty="0" sz="12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20">
                <a:solidFill>
                  <a:srgbClr val="111826"/>
                </a:solidFill>
                <a:latin typeface="Segoe UI"/>
                <a:cs typeface="Segoe UI"/>
              </a:rPr>
              <a:t>cards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(total/overdue/approaching/good)</a:t>
            </a:r>
            <a:endParaRPr sz="1200">
              <a:latin typeface="Segoe UI"/>
              <a:cs typeface="Segoe UI"/>
            </a:endParaRPr>
          </a:p>
          <a:p>
            <a:pPr marL="251460" indent="-238760">
              <a:lnSpc>
                <a:spcPct val="100000"/>
              </a:lnSpc>
              <a:spcBef>
                <a:spcPts val="555"/>
              </a:spcBef>
              <a:buFont typeface="Segoe UI Symbol"/>
              <a:buChar char="✓"/>
              <a:tabLst>
                <a:tab pos="251460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List</a:t>
            </a:r>
            <a:r>
              <a:rPr dirty="0" sz="12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view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ordered</a:t>
            </a:r>
            <a:r>
              <a:rPr dirty="0" sz="12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by</a:t>
            </a:r>
            <a:r>
              <a:rPr dirty="0" sz="120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urgency</a:t>
            </a:r>
            <a:r>
              <a:rPr dirty="0" sz="12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(overdue</a:t>
            </a:r>
            <a:r>
              <a:rPr dirty="0" sz="12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first)</a:t>
            </a:r>
            <a:endParaRPr sz="1200">
              <a:latin typeface="Segoe UI"/>
              <a:cs typeface="Segoe UI"/>
            </a:endParaRPr>
          </a:p>
          <a:p>
            <a:pPr marL="251460" indent="-238760">
              <a:lnSpc>
                <a:spcPct val="100000"/>
              </a:lnSpc>
              <a:spcBef>
                <a:spcPts val="565"/>
              </a:spcBef>
              <a:buFont typeface="Segoe UI Symbol"/>
              <a:buChar char="✓"/>
              <a:tabLst>
                <a:tab pos="251460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Search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by</a:t>
            </a:r>
            <a:r>
              <a:rPr dirty="0" sz="12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serial</a:t>
            </a:r>
            <a:r>
              <a:rPr dirty="0" sz="120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/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building</a:t>
            </a:r>
            <a:r>
              <a:rPr dirty="0" sz="12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/</a:t>
            </a:r>
            <a:r>
              <a:rPr dirty="0" sz="120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20">
                <a:solidFill>
                  <a:srgbClr val="111826"/>
                </a:solidFill>
                <a:latin typeface="Segoe UI"/>
                <a:cs typeface="Segoe UI"/>
              </a:rPr>
              <a:t>room</a:t>
            </a:r>
            <a:endParaRPr sz="1200">
              <a:latin typeface="Segoe UI"/>
              <a:cs typeface="Segoe UI"/>
            </a:endParaRPr>
          </a:p>
          <a:p>
            <a:pPr marL="251460" indent="-238760">
              <a:lnSpc>
                <a:spcPct val="100000"/>
              </a:lnSpc>
              <a:spcBef>
                <a:spcPts val="560"/>
              </a:spcBef>
              <a:buFont typeface="Segoe UI Symbol"/>
              <a:buChar char="✓"/>
              <a:tabLst>
                <a:tab pos="251460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Filter</a:t>
            </a:r>
            <a:r>
              <a:rPr dirty="0" sz="12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by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status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and</a:t>
            </a:r>
            <a:r>
              <a:rPr dirty="0" sz="120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equipment</a:t>
            </a:r>
            <a:r>
              <a:rPr dirty="0" sz="120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20">
                <a:solidFill>
                  <a:srgbClr val="111826"/>
                </a:solidFill>
                <a:latin typeface="Segoe UI"/>
                <a:cs typeface="Segoe UI"/>
              </a:rPr>
              <a:t>type</a:t>
            </a:r>
            <a:endParaRPr sz="1200">
              <a:latin typeface="Segoe UI"/>
              <a:cs typeface="Segoe UI"/>
            </a:endParaRPr>
          </a:p>
          <a:p>
            <a:pPr marL="251460" indent="-238760">
              <a:lnSpc>
                <a:spcPct val="100000"/>
              </a:lnSpc>
              <a:spcBef>
                <a:spcPts val="555"/>
              </a:spcBef>
              <a:buFont typeface="Segoe UI Symbol"/>
              <a:buChar char="✓"/>
              <a:tabLst>
                <a:tab pos="251460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ML</a:t>
            </a:r>
            <a:r>
              <a:rPr dirty="0" sz="120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risk</a:t>
            </a:r>
            <a:r>
              <a:rPr dirty="0" sz="120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prediction</a:t>
            </a:r>
            <a:r>
              <a:rPr dirty="0" sz="120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with</a:t>
            </a:r>
            <a:r>
              <a:rPr dirty="0" sz="1200" spc="6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confidence</a:t>
            </a:r>
            <a:r>
              <a:rPr dirty="0" sz="120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scores</a:t>
            </a:r>
            <a:endParaRPr sz="1200">
              <a:latin typeface="Segoe UI"/>
              <a:cs typeface="Segoe UI"/>
            </a:endParaRPr>
          </a:p>
          <a:p>
            <a:pPr marL="251460" indent="-238760">
              <a:lnSpc>
                <a:spcPct val="100000"/>
              </a:lnSpc>
              <a:spcBef>
                <a:spcPts val="565"/>
              </a:spcBef>
              <a:buFont typeface="Segoe UI Symbol"/>
              <a:buChar char="✓"/>
              <a:tabLst>
                <a:tab pos="251460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Full</a:t>
            </a:r>
            <a:r>
              <a:rPr dirty="0" sz="12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inspection</a:t>
            </a:r>
            <a:r>
              <a:rPr dirty="0" sz="120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history</a:t>
            </a:r>
            <a:r>
              <a:rPr dirty="0" sz="12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(no</a:t>
            </a:r>
            <a:r>
              <a:rPr dirty="0" sz="120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overwrites)</a:t>
            </a:r>
            <a:endParaRPr sz="1200">
              <a:latin typeface="Segoe UI"/>
              <a:cs typeface="Segoe UI"/>
            </a:endParaRPr>
          </a:p>
          <a:p>
            <a:pPr marL="251460" indent="-238760">
              <a:lnSpc>
                <a:spcPct val="100000"/>
              </a:lnSpc>
              <a:spcBef>
                <a:spcPts val="550"/>
              </a:spcBef>
              <a:buFont typeface="Segoe UI Symbol"/>
              <a:buChar char="✓"/>
              <a:tabLst>
                <a:tab pos="251460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Database</a:t>
            </a:r>
            <a:r>
              <a:rPr dirty="0" sz="12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audit</a:t>
            </a:r>
            <a:r>
              <a:rPr dirty="0" sz="12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log</a:t>
            </a:r>
            <a:r>
              <a:rPr dirty="0" sz="12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for</a:t>
            </a:r>
            <a:r>
              <a:rPr dirty="0" sz="12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compliance</a:t>
            </a:r>
            <a:endParaRPr sz="1200">
              <a:latin typeface="Segoe UI"/>
              <a:cs typeface="Segoe UI"/>
            </a:endParaRPr>
          </a:p>
          <a:p>
            <a:pPr marL="251460" indent="-238760">
              <a:lnSpc>
                <a:spcPct val="100000"/>
              </a:lnSpc>
              <a:spcBef>
                <a:spcPts val="565"/>
              </a:spcBef>
              <a:buFont typeface="Segoe UI Symbol"/>
              <a:buChar char="✓"/>
              <a:tabLst>
                <a:tab pos="251460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Error</a:t>
            </a:r>
            <a:r>
              <a:rPr dirty="0" sz="12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&amp;</a:t>
            </a:r>
            <a:r>
              <a:rPr dirty="0" sz="12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empty</a:t>
            </a:r>
            <a:r>
              <a:rPr dirty="0" sz="12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state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handling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12892" y="1816608"/>
            <a:ext cx="79375" cy="2566670"/>
          </a:xfrm>
          <a:custGeom>
            <a:avLst/>
            <a:gdLst/>
            <a:ahLst/>
            <a:cxnLst/>
            <a:rect l="l" t="t" r="r" b="b"/>
            <a:pathLst>
              <a:path w="79375" h="2566670">
                <a:moveTo>
                  <a:pt x="0" y="2566416"/>
                </a:moveTo>
                <a:lnTo>
                  <a:pt x="79247" y="2566416"/>
                </a:lnTo>
                <a:lnTo>
                  <a:pt x="79247" y="0"/>
                </a:lnTo>
                <a:lnTo>
                  <a:pt x="0" y="0"/>
                </a:lnTo>
                <a:lnTo>
                  <a:pt x="0" y="2566416"/>
                </a:lnTo>
                <a:close/>
              </a:path>
            </a:pathLst>
          </a:custGeom>
          <a:solidFill>
            <a:srgbClr val="F49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920221" y="1847901"/>
            <a:ext cx="4212590" cy="144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solidFill>
                  <a:srgbClr val="111826"/>
                </a:solidFill>
                <a:latin typeface="Gadugi"/>
                <a:cs typeface="Gadugi"/>
              </a:rPr>
              <a:t>What</a:t>
            </a:r>
            <a:r>
              <a:rPr dirty="0" sz="1750" spc="-4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750" b="1">
                <a:solidFill>
                  <a:srgbClr val="111826"/>
                </a:solidFill>
                <a:latin typeface="Gadugi"/>
                <a:cs typeface="Gadugi"/>
              </a:rPr>
              <a:t>Is</a:t>
            </a:r>
            <a:r>
              <a:rPr dirty="0" sz="1750" spc="-35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750" b="1">
                <a:solidFill>
                  <a:srgbClr val="111826"/>
                </a:solidFill>
                <a:latin typeface="Gadugi"/>
                <a:cs typeface="Gadugi"/>
              </a:rPr>
              <a:t>Unfinished</a:t>
            </a:r>
            <a:r>
              <a:rPr dirty="0" sz="1750" spc="-45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750" spc="-50" b="1">
                <a:solidFill>
                  <a:srgbClr val="111826"/>
                </a:solidFill>
                <a:latin typeface="Yu Gothic UI"/>
                <a:cs typeface="Yu Gothic UI"/>
              </a:rPr>
              <a:t>⚠</a:t>
            </a:r>
            <a:endParaRPr sz="175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solidFill>
                  <a:srgbClr val="111826"/>
                </a:solidFill>
                <a:latin typeface="Segoe UI Symbol"/>
                <a:cs typeface="Segoe UI Symbol"/>
              </a:rPr>
              <a:t>⚠</a:t>
            </a:r>
            <a:r>
              <a:rPr dirty="0" sz="1200" spc="125">
                <a:solidFill>
                  <a:srgbClr val="111826"/>
                </a:solidFill>
                <a:latin typeface="Segoe UI Symbol"/>
                <a:cs typeface="Segoe UI Symbol"/>
              </a:rPr>
              <a:t> 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User</a:t>
            </a:r>
            <a:r>
              <a:rPr dirty="0" sz="12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authentication</a:t>
            </a:r>
            <a:r>
              <a:rPr dirty="0" sz="120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/</a:t>
            </a:r>
            <a:r>
              <a:rPr dirty="0" sz="12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login</a:t>
            </a:r>
            <a:r>
              <a:rPr dirty="0" sz="120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—</a:t>
            </a:r>
            <a:r>
              <a:rPr dirty="0" sz="12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out</a:t>
            </a:r>
            <a:r>
              <a:rPr dirty="0" sz="120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of</a:t>
            </a:r>
            <a:r>
              <a:rPr dirty="0" sz="120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scope</a:t>
            </a:r>
            <a:r>
              <a:rPr dirty="0" sz="12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for</a:t>
            </a:r>
            <a:r>
              <a:rPr dirty="0" sz="12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Easy</a:t>
            </a:r>
            <a:r>
              <a:rPr dirty="0" sz="12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level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200">
                <a:solidFill>
                  <a:srgbClr val="111826"/>
                </a:solidFill>
                <a:latin typeface="Segoe UI Symbol"/>
                <a:cs typeface="Segoe UI Symbol"/>
              </a:rPr>
              <a:t>⚠</a:t>
            </a:r>
            <a:r>
              <a:rPr dirty="0" sz="1200" spc="145">
                <a:solidFill>
                  <a:srgbClr val="111826"/>
                </a:solidFill>
                <a:latin typeface="Segoe UI Symbol"/>
                <a:cs typeface="Segoe UI Symbol"/>
              </a:rPr>
              <a:t> 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Email/SMS</a:t>
            </a:r>
            <a:r>
              <a:rPr dirty="0" sz="12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alerts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—</a:t>
            </a:r>
            <a:r>
              <a:rPr dirty="0" sz="120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requires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external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SMTP/SMS</a:t>
            </a:r>
            <a:r>
              <a:rPr dirty="0" sz="12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gateway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200">
                <a:solidFill>
                  <a:srgbClr val="111826"/>
                </a:solidFill>
                <a:latin typeface="Segoe UI Symbol"/>
                <a:cs typeface="Segoe UI Symbol"/>
              </a:rPr>
              <a:t>⚠</a:t>
            </a:r>
            <a:r>
              <a:rPr dirty="0" sz="1200" spc="140">
                <a:solidFill>
                  <a:srgbClr val="111826"/>
                </a:solidFill>
                <a:latin typeface="Segoe UI Symbol"/>
                <a:cs typeface="Segoe UI Symbol"/>
              </a:rPr>
              <a:t> 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Barcode/QR</a:t>
            </a:r>
            <a:r>
              <a:rPr dirty="0" sz="12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scanning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—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requires</a:t>
            </a:r>
            <a:r>
              <a:rPr dirty="0" sz="12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hardware</a:t>
            </a:r>
            <a:r>
              <a:rPr dirty="0" sz="120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integration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200">
                <a:solidFill>
                  <a:srgbClr val="111826"/>
                </a:solidFill>
                <a:latin typeface="Segoe UI Symbol"/>
                <a:cs typeface="Segoe UI Symbol"/>
              </a:rPr>
              <a:t>⚠</a:t>
            </a:r>
            <a:r>
              <a:rPr dirty="0" sz="1200" spc="125">
                <a:solidFill>
                  <a:srgbClr val="111826"/>
                </a:solidFill>
                <a:latin typeface="Segoe UI Symbol"/>
                <a:cs typeface="Segoe UI Symbol"/>
              </a:rPr>
              <a:t> 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Mobile</a:t>
            </a:r>
            <a:r>
              <a:rPr dirty="0" sz="12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app</a:t>
            </a:r>
            <a:r>
              <a:rPr dirty="0" sz="12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—</a:t>
            </a:r>
            <a:r>
              <a:rPr dirty="0" sz="12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future</a:t>
            </a:r>
            <a:r>
              <a:rPr dirty="0" sz="12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enhancement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2892" y="4383023"/>
            <a:ext cx="4650105" cy="1844039"/>
          </a:xfrm>
          <a:prstGeom prst="rect">
            <a:avLst/>
          </a:prstGeom>
          <a:solidFill>
            <a:srgbClr val="F2F4F6"/>
          </a:solidFill>
        </p:spPr>
        <p:txBody>
          <a:bodyPr wrap="square" lIns="0" tIns="124460" rIns="0" bIns="0" rtlCol="0" vert="horz">
            <a:spAutoFit/>
          </a:bodyPr>
          <a:lstStyle/>
          <a:p>
            <a:pPr marL="320040">
              <a:lnSpc>
                <a:spcPct val="100000"/>
              </a:lnSpc>
              <a:spcBef>
                <a:spcPts val="980"/>
              </a:spcBef>
            </a:pPr>
            <a:r>
              <a:rPr dirty="0" sz="1300" spc="-10" b="1">
                <a:solidFill>
                  <a:srgbClr val="111826"/>
                </a:solidFill>
                <a:latin typeface="Gadugi"/>
                <a:cs typeface="Gadugi"/>
              </a:rPr>
              <a:t>Test</a:t>
            </a:r>
            <a:r>
              <a:rPr dirty="0" sz="1300" spc="-65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300" spc="-10" b="1">
                <a:solidFill>
                  <a:srgbClr val="111826"/>
                </a:solidFill>
                <a:latin typeface="Gadugi"/>
                <a:cs typeface="Gadugi"/>
              </a:rPr>
              <a:t>Results:</a:t>
            </a:r>
            <a:endParaRPr sz="1300">
              <a:latin typeface="Gadugi"/>
              <a:cs typeface="Gadugi"/>
            </a:endParaRPr>
          </a:p>
          <a:p>
            <a:pPr marL="446405" indent="-126364">
              <a:lnSpc>
                <a:spcPct val="100000"/>
              </a:lnSpc>
              <a:spcBef>
                <a:spcPts val="944"/>
              </a:spcBef>
              <a:buChar char="•"/>
              <a:tabLst>
                <a:tab pos="446405" algn="l"/>
              </a:tabLst>
            </a:pP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Empty</a:t>
            </a:r>
            <a:r>
              <a:rPr dirty="0" sz="1050" spc="-1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serial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→</a:t>
            </a:r>
            <a:r>
              <a:rPr dirty="0" sz="1050" spc="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Server</a:t>
            </a:r>
            <a:r>
              <a:rPr dirty="0" sz="1050" spc="-2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rejects:</a:t>
            </a:r>
            <a:r>
              <a:rPr dirty="0" sz="1050" spc="-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'Serial</a:t>
            </a:r>
            <a:r>
              <a:rPr dirty="0" sz="1050" spc="-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number</a:t>
            </a:r>
            <a:r>
              <a:rPr dirty="0" sz="1050" spc="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must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be</a:t>
            </a:r>
            <a:r>
              <a:rPr dirty="0" sz="1050" spc="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at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least 3</a:t>
            </a:r>
            <a:r>
              <a:rPr dirty="0" sz="1050" spc="-1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chars'</a:t>
            </a:r>
            <a:endParaRPr sz="1050">
              <a:latin typeface="Segoe UI"/>
              <a:cs typeface="Segoe UI"/>
            </a:endParaRPr>
          </a:p>
          <a:p>
            <a:pPr marL="446405" indent="-126364">
              <a:lnSpc>
                <a:spcPct val="100000"/>
              </a:lnSpc>
              <a:spcBef>
                <a:spcPts val="530"/>
              </a:spcBef>
              <a:buChar char="•"/>
              <a:tabLst>
                <a:tab pos="446405" algn="l"/>
              </a:tabLst>
            </a:pP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Future</a:t>
            </a:r>
            <a:r>
              <a:rPr dirty="0" sz="1050" spc="-3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date</a:t>
            </a:r>
            <a:r>
              <a:rPr dirty="0" sz="1050" spc="-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→</a:t>
            </a:r>
            <a:r>
              <a:rPr dirty="0" sz="1050" spc="-2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Server rejects: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'Installation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date</a:t>
            </a:r>
            <a:r>
              <a:rPr dirty="0" sz="1050" spc="-1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cannot</a:t>
            </a:r>
            <a:r>
              <a:rPr dirty="0" sz="1050" spc="-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be</a:t>
            </a:r>
            <a:r>
              <a:rPr dirty="0" sz="1050" spc="-2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in</a:t>
            </a:r>
            <a:r>
              <a:rPr dirty="0" sz="1050" spc="-2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the</a:t>
            </a:r>
            <a:r>
              <a:rPr dirty="0" sz="1050" spc="-1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future'</a:t>
            </a:r>
            <a:endParaRPr sz="1050">
              <a:latin typeface="Segoe UI"/>
              <a:cs typeface="Segoe UI"/>
            </a:endParaRPr>
          </a:p>
          <a:p>
            <a:pPr marL="446405" indent="-126364">
              <a:lnSpc>
                <a:spcPct val="100000"/>
              </a:lnSpc>
              <a:spcBef>
                <a:spcPts val="525"/>
              </a:spcBef>
              <a:buChar char="•"/>
              <a:tabLst>
                <a:tab pos="446405" algn="l"/>
              </a:tabLst>
            </a:pP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Valid</a:t>
            </a:r>
            <a:r>
              <a:rPr dirty="0" sz="1050" spc="-2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insert</a:t>
            </a:r>
            <a:r>
              <a:rPr dirty="0" sz="1050" spc="-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after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error →</a:t>
            </a:r>
            <a:r>
              <a:rPr dirty="0" sz="1050" spc="-2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Saves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 successfully</a:t>
            </a:r>
            <a:endParaRPr sz="1050">
              <a:latin typeface="Segoe UI"/>
              <a:cs typeface="Segoe UI"/>
            </a:endParaRPr>
          </a:p>
          <a:p>
            <a:pPr marL="446405" indent="-126364">
              <a:lnSpc>
                <a:spcPct val="100000"/>
              </a:lnSpc>
              <a:spcBef>
                <a:spcPts val="530"/>
              </a:spcBef>
              <a:buChar char="•"/>
              <a:tabLst>
                <a:tab pos="446405" algn="l"/>
              </a:tabLst>
            </a:pP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Model</a:t>
            </a:r>
            <a:r>
              <a:rPr dirty="0" sz="1050" spc="-1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accuracy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on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test</a:t>
            </a:r>
            <a:r>
              <a:rPr dirty="0" sz="1050" spc="-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B7280"/>
                </a:solidFill>
                <a:latin typeface="Segoe UI"/>
                <a:cs typeface="Segoe UI"/>
              </a:rPr>
              <a:t>set:</a:t>
            </a:r>
            <a:r>
              <a:rPr dirty="0" sz="1050" spc="-1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050" spc="-20">
                <a:solidFill>
                  <a:srgbClr val="6B7280"/>
                </a:solidFill>
                <a:latin typeface="Segoe UI"/>
                <a:cs typeface="Segoe UI"/>
              </a:rPr>
              <a:t>~78%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34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ONE</a:t>
            </a:r>
            <a:r>
              <a:rPr dirty="0" spc="-65"/>
              <a:t> </a:t>
            </a:r>
            <a:r>
              <a:rPr dirty="0"/>
              <a:t>IMPROVEMENT</a:t>
            </a:r>
            <a:r>
              <a:rPr dirty="0" spc="-15"/>
              <a:t> </a:t>
            </a:r>
            <a:r>
              <a:rPr dirty="0"/>
              <a:t>WE</a:t>
            </a:r>
            <a:r>
              <a:rPr dirty="0" spc="-10"/>
              <a:t> </a:t>
            </a:r>
            <a:r>
              <a:rPr dirty="0"/>
              <a:t>WOULD</a:t>
            </a:r>
            <a:r>
              <a:rPr dirty="0" spc="-20"/>
              <a:t> </a:t>
            </a:r>
            <a:r>
              <a:rPr dirty="0"/>
              <a:t>MAKE</a:t>
            </a:r>
            <a:r>
              <a:rPr dirty="0" spc="-60"/>
              <a:t> </a:t>
            </a:r>
            <a:r>
              <a:rPr dirty="0" spc="-20"/>
              <a:t>NEXT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8935" y="1927415"/>
            <a:ext cx="6696709" cy="4006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b="1">
                <a:solidFill>
                  <a:srgbClr val="2462EB"/>
                </a:solidFill>
                <a:latin typeface="Gadugi"/>
                <a:cs typeface="Gadugi"/>
              </a:rPr>
              <a:t>Automated</a:t>
            </a:r>
            <a:r>
              <a:rPr dirty="0" sz="2450" spc="-10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2450" b="1">
                <a:solidFill>
                  <a:srgbClr val="2462EB"/>
                </a:solidFill>
                <a:latin typeface="Gadugi"/>
                <a:cs typeface="Gadugi"/>
              </a:rPr>
              <a:t>Email</a:t>
            </a:r>
            <a:r>
              <a:rPr dirty="0" sz="2450" spc="-20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2450" b="1">
                <a:solidFill>
                  <a:srgbClr val="2462EB"/>
                </a:solidFill>
                <a:latin typeface="Gadugi"/>
                <a:cs typeface="Gadugi"/>
              </a:rPr>
              <a:t>Alerts</a:t>
            </a:r>
            <a:r>
              <a:rPr dirty="0" sz="2450" spc="-35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2450" b="1">
                <a:solidFill>
                  <a:srgbClr val="2462EB"/>
                </a:solidFill>
                <a:latin typeface="Gadugi"/>
                <a:cs typeface="Gadugi"/>
              </a:rPr>
              <a:t>for</a:t>
            </a:r>
            <a:r>
              <a:rPr dirty="0" sz="2450" spc="-25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2450" b="1">
                <a:solidFill>
                  <a:srgbClr val="2462EB"/>
                </a:solidFill>
                <a:latin typeface="Gadugi"/>
                <a:cs typeface="Gadugi"/>
              </a:rPr>
              <a:t>the</a:t>
            </a:r>
            <a:r>
              <a:rPr dirty="0" sz="2450" spc="-35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2450" b="1">
                <a:solidFill>
                  <a:srgbClr val="2462EB"/>
                </a:solidFill>
                <a:latin typeface="Gadugi"/>
                <a:cs typeface="Gadugi"/>
              </a:rPr>
              <a:t>Safety</a:t>
            </a:r>
            <a:r>
              <a:rPr dirty="0" sz="2450" spc="-30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2450" spc="-10" b="1">
                <a:solidFill>
                  <a:srgbClr val="2462EB"/>
                </a:solidFill>
                <a:latin typeface="Gadugi"/>
                <a:cs typeface="Gadugi"/>
              </a:rPr>
              <a:t>Officer</a:t>
            </a:r>
            <a:endParaRPr sz="2450">
              <a:latin typeface="Gadugi"/>
              <a:cs typeface="Gadug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0812" y="2538983"/>
            <a:ext cx="9862185" cy="4008120"/>
            <a:chOff x="400812" y="2538983"/>
            <a:chExt cx="9862185" cy="4008120"/>
          </a:xfrm>
        </p:grpSpPr>
        <p:sp>
          <p:nvSpPr>
            <p:cNvPr id="5" name="object 5"/>
            <p:cNvSpPr/>
            <p:nvPr/>
          </p:nvSpPr>
          <p:spPr>
            <a:xfrm>
              <a:off x="400812" y="2538983"/>
              <a:ext cx="81280" cy="3046730"/>
            </a:xfrm>
            <a:custGeom>
              <a:avLst/>
              <a:gdLst/>
              <a:ahLst/>
              <a:cxnLst/>
              <a:rect l="l" t="t" r="r" b="b"/>
              <a:pathLst>
                <a:path w="81279" h="3046729">
                  <a:moveTo>
                    <a:pt x="0" y="3046476"/>
                  </a:moveTo>
                  <a:lnTo>
                    <a:pt x="80771" y="3046476"/>
                  </a:lnTo>
                  <a:lnTo>
                    <a:pt x="80771" y="0"/>
                  </a:lnTo>
                  <a:lnTo>
                    <a:pt x="0" y="0"/>
                  </a:lnTo>
                  <a:lnTo>
                    <a:pt x="0" y="3046476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612892" y="2538983"/>
              <a:ext cx="79375" cy="3046730"/>
            </a:xfrm>
            <a:custGeom>
              <a:avLst/>
              <a:gdLst/>
              <a:ahLst/>
              <a:cxnLst/>
              <a:rect l="l" t="t" r="r" b="b"/>
              <a:pathLst>
                <a:path w="79375" h="3046729">
                  <a:moveTo>
                    <a:pt x="0" y="3046476"/>
                  </a:moveTo>
                  <a:lnTo>
                    <a:pt x="79247" y="3046476"/>
                  </a:lnTo>
                  <a:lnTo>
                    <a:pt x="79247" y="0"/>
                  </a:lnTo>
                  <a:lnTo>
                    <a:pt x="0" y="0"/>
                  </a:lnTo>
                  <a:lnTo>
                    <a:pt x="0" y="3046476"/>
                  </a:lnTo>
                  <a:close/>
                </a:path>
              </a:pathLst>
            </a:custGeom>
            <a:solidFill>
              <a:srgbClr val="16A3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00812" y="5585460"/>
              <a:ext cx="9862185" cy="962025"/>
            </a:xfrm>
            <a:custGeom>
              <a:avLst/>
              <a:gdLst/>
              <a:ahLst/>
              <a:cxnLst/>
              <a:rect l="l" t="t" r="r" b="b"/>
              <a:pathLst>
                <a:path w="9862185" h="962025">
                  <a:moveTo>
                    <a:pt x="9861803" y="961643"/>
                  </a:moveTo>
                  <a:lnTo>
                    <a:pt x="0" y="961643"/>
                  </a:lnTo>
                  <a:lnTo>
                    <a:pt x="0" y="0"/>
                  </a:lnTo>
                  <a:lnTo>
                    <a:pt x="9861803" y="0"/>
                  </a:lnTo>
                  <a:lnTo>
                    <a:pt x="9861803" y="961643"/>
                  </a:lnTo>
                  <a:close/>
                </a:path>
              </a:pathLst>
            </a:custGeom>
            <a:solidFill>
              <a:srgbClr val="F2F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09692" y="2567623"/>
            <a:ext cx="4030345" cy="19640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What</a:t>
            </a:r>
            <a:r>
              <a:rPr dirty="0" sz="1550" spc="1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It</a:t>
            </a:r>
            <a:r>
              <a:rPr dirty="0" sz="1550" spc="15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Would</a:t>
            </a:r>
            <a:r>
              <a:rPr dirty="0" sz="1550" spc="15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spc="-25" b="1">
                <a:solidFill>
                  <a:srgbClr val="111826"/>
                </a:solidFill>
                <a:latin typeface="Gadugi"/>
                <a:cs typeface="Gadugi"/>
              </a:rPr>
              <a:t>Do:</a:t>
            </a:r>
            <a:endParaRPr sz="1550">
              <a:latin typeface="Gadugi"/>
              <a:cs typeface="Gadugi"/>
            </a:endParaRPr>
          </a:p>
          <a:p>
            <a:pPr marL="12700" marR="428625">
              <a:lnSpc>
                <a:spcPct val="101600"/>
              </a:lnSpc>
              <a:spcBef>
                <a:spcPts val="1260"/>
              </a:spcBef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→</a:t>
            </a:r>
            <a:r>
              <a:rPr dirty="0" sz="1300" spc="3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Send email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to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safety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officer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7 days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before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5">
                <a:solidFill>
                  <a:srgbClr val="111826"/>
                </a:solidFill>
                <a:latin typeface="Segoe UI"/>
                <a:cs typeface="Segoe UI"/>
              </a:rPr>
              <a:t>any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equipment</a:t>
            </a:r>
            <a:r>
              <a:rPr dirty="0" sz="13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becomes</a:t>
            </a:r>
            <a:r>
              <a:rPr dirty="0" sz="13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overdue</a:t>
            </a:r>
            <a:endParaRPr sz="1300">
              <a:latin typeface="Segoe UI"/>
              <a:cs typeface="Segoe UI"/>
            </a:endParaRPr>
          </a:p>
          <a:p>
            <a:pPr marL="12700" marR="400685">
              <a:lnSpc>
                <a:spcPct val="101600"/>
              </a:lnSpc>
              <a:spcBef>
                <a:spcPts val="860"/>
              </a:spcBef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→</a:t>
            </a:r>
            <a:r>
              <a:rPr dirty="0" sz="1300" spc="39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Send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weekly</a:t>
            </a:r>
            <a:r>
              <a:rPr dirty="0" sz="13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Monday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morning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summary</a:t>
            </a:r>
            <a:r>
              <a:rPr dirty="0" sz="13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of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5">
                <a:solidFill>
                  <a:srgbClr val="111826"/>
                </a:solidFill>
                <a:latin typeface="Segoe UI"/>
                <a:cs typeface="Segoe UI"/>
              </a:rPr>
              <a:t>all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overdue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and</a:t>
            </a:r>
            <a:r>
              <a:rPr dirty="0" sz="1300" spc="-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approaching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11826"/>
                </a:solidFill>
                <a:latin typeface="Segoe UI"/>
                <a:cs typeface="Segoe UI"/>
              </a:rPr>
              <a:t>items</a:t>
            </a:r>
            <a:endParaRPr sz="13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→</a:t>
            </a:r>
            <a:r>
              <a:rPr dirty="0" sz="1300" spc="3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Include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direct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link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to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inspection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form for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each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11826"/>
                </a:solidFill>
                <a:latin typeface="Segoe UI"/>
                <a:cs typeface="Segoe UI"/>
              </a:rPr>
              <a:t>item</a:t>
            </a:r>
            <a:endParaRPr sz="13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→</a:t>
            </a:r>
            <a:r>
              <a:rPr dirty="0" sz="1300" spc="3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Log all</a:t>
            </a:r>
            <a:r>
              <a:rPr dirty="0" sz="13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sent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alerts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to</a:t>
            </a:r>
            <a:r>
              <a:rPr dirty="0" sz="13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prevent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duplicate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notifications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0220" y="2567623"/>
            <a:ext cx="4242435" cy="2275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Why</a:t>
            </a:r>
            <a:r>
              <a:rPr dirty="0" sz="1550" spc="2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b="1">
                <a:solidFill>
                  <a:srgbClr val="111826"/>
                </a:solidFill>
                <a:latin typeface="Gadugi"/>
                <a:cs typeface="Gadugi"/>
              </a:rPr>
              <a:t>This</a:t>
            </a:r>
            <a:r>
              <a:rPr dirty="0" sz="1550" spc="35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550" spc="-10" b="1">
                <a:solidFill>
                  <a:srgbClr val="111826"/>
                </a:solidFill>
                <a:latin typeface="Gadugi"/>
                <a:cs typeface="Gadugi"/>
              </a:rPr>
              <a:t>Matters:</a:t>
            </a:r>
            <a:endParaRPr sz="1550">
              <a:latin typeface="Gadugi"/>
              <a:cs typeface="Gadugi"/>
            </a:endParaRPr>
          </a:p>
          <a:p>
            <a:pPr marL="12700" marR="200025" indent="259715">
              <a:lnSpc>
                <a:spcPct val="101600"/>
              </a:lnSpc>
              <a:spcBef>
                <a:spcPts val="1260"/>
              </a:spcBef>
              <a:buFont typeface="Segoe UI Symbol"/>
              <a:buChar char="✓"/>
              <a:tabLst>
                <a:tab pos="272415" algn="l"/>
              </a:tabLst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Currently, officer must open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dashboard to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see</a:t>
            </a:r>
            <a:r>
              <a:rPr dirty="0" sz="1300" spc="-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11826"/>
                </a:solidFill>
                <a:latin typeface="Segoe UI"/>
                <a:cs typeface="Segoe UI"/>
              </a:rPr>
              <a:t>what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needs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attention</a:t>
            </a:r>
            <a:endParaRPr sz="1300">
              <a:latin typeface="Segoe UI"/>
              <a:cs typeface="Segoe UI"/>
            </a:endParaRPr>
          </a:p>
          <a:p>
            <a:pPr marL="272415" indent="-259715">
              <a:lnSpc>
                <a:spcPct val="100000"/>
              </a:lnSpc>
              <a:spcBef>
                <a:spcPts val="885"/>
              </a:spcBef>
              <a:buFont typeface="Segoe UI Symbol"/>
              <a:buChar char="✓"/>
              <a:tabLst>
                <a:tab pos="272415" algn="l"/>
              </a:tabLst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With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email</a:t>
            </a:r>
            <a:r>
              <a:rPr dirty="0" sz="13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alerts,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officer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is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proactively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notified</a:t>
            </a:r>
            <a:endParaRPr sz="1300">
              <a:latin typeface="Segoe UI"/>
              <a:cs typeface="Segoe UI"/>
            </a:endParaRPr>
          </a:p>
          <a:p>
            <a:pPr marL="12700" marR="128270" indent="259715">
              <a:lnSpc>
                <a:spcPct val="100800"/>
              </a:lnSpc>
              <a:spcBef>
                <a:spcPts val="890"/>
              </a:spcBef>
              <a:buFont typeface="Segoe UI Symbol"/>
              <a:buChar char="✓"/>
              <a:tabLst>
                <a:tab pos="272415" algn="l"/>
              </a:tabLst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Closes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the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final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gap: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system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not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only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tracks,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but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11826"/>
                </a:solidFill>
                <a:latin typeface="Segoe UI"/>
                <a:cs typeface="Segoe UI"/>
              </a:rPr>
              <a:t>also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TELLS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officer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when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action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is</a:t>
            </a:r>
            <a:r>
              <a:rPr dirty="0" sz="1300" spc="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needed</a:t>
            </a:r>
            <a:endParaRPr sz="1300">
              <a:latin typeface="Segoe UI"/>
              <a:cs typeface="Segoe UI"/>
            </a:endParaRPr>
          </a:p>
          <a:p>
            <a:pPr marL="272415" indent="-259715">
              <a:lnSpc>
                <a:spcPct val="100000"/>
              </a:lnSpc>
              <a:spcBef>
                <a:spcPts val="900"/>
              </a:spcBef>
              <a:buFont typeface="Segoe UI Symbol"/>
              <a:buChar char="✓"/>
              <a:tabLst>
                <a:tab pos="272415" algn="l"/>
              </a:tabLst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Zero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overdue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equipment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—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always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ahead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of</a:t>
            </a:r>
            <a:r>
              <a:rPr dirty="0" sz="1300" spc="1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due</a:t>
            </a:r>
            <a:r>
              <a:rPr dirty="0" sz="1300" spc="1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11826"/>
                </a:solidFill>
                <a:latin typeface="Segoe UI"/>
                <a:cs typeface="Segoe UI"/>
              </a:rPr>
              <a:t>date</a:t>
            </a:r>
            <a:endParaRPr sz="1300">
              <a:latin typeface="Segoe UI"/>
              <a:cs typeface="Segoe UI"/>
            </a:endParaRPr>
          </a:p>
          <a:p>
            <a:pPr marL="272415" indent="-259715">
              <a:lnSpc>
                <a:spcPct val="100000"/>
              </a:lnSpc>
              <a:spcBef>
                <a:spcPts val="885"/>
              </a:spcBef>
              <a:buFont typeface="Segoe UI Symbol"/>
              <a:buChar char="✓"/>
              <a:tabLst>
                <a:tab pos="272415" algn="l"/>
              </a:tabLst>
            </a:pP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Always</a:t>
            </a:r>
            <a:r>
              <a:rPr dirty="0" sz="13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audit-ready</a:t>
            </a:r>
            <a:r>
              <a:rPr dirty="0" sz="13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—</a:t>
            </a:r>
            <a:r>
              <a:rPr dirty="0" sz="13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building</a:t>
            </a:r>
            <a:r>
              <a:rPr dirty="0" sz="1300" spc="3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11826"/>
                </a:solidFill>
                <a:latin typeface="Segoe UI"/>
                <a:cs typeface="Segoe UI"/>
              </a:rPr>
              <a:t>always</a:t>
            </a:r>
            <a:r>
              <a:rPr dirty="0" sz="1300" spc="2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11826"/>
                </a:solidFill>
                <a:latin typeface="Segoe UI"/>
                <a:cs typeface="Segoe UI"/>
              </a:rPr>
              <a:t>compliant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9675" y="5561051"/>
            <a:ext cx="8860155" cy="77406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200" b="1">
                <a:solidFill>
                  <a:srgbClr val="111826"/>
                </a:solidFill>
                <a:latin typeface="Gadugi"/>
                <a:cs typeface="Gadugi"/>
              </a:rPr>
              <a:t>How</a:t>
            </a:r>
            <a:r>
              <a:rPr dirty="0" sz="1200" spc="25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200" b="1">
                <a:solidFill>
                  <a:srgbClr val="111826"/>
                </a:solidFill>
                <a:latin typeface="Gadugi"/>
                <a:cs typeface="Gadugi"/>
              </a:rPr>
              <a:t>It</a:t>
            </a:r>
            <a:r>
              <a:rPr dirty="0" sz="1200" spc="3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200" b="1">
                <a:solidFill>
                  <a:srgbClr val="111826"/>
                </a:solidFill>
                <a:latin typeface="Gadugi"/>
                <a:cs typeface="Gadugi"/>
              </a:rPr>
              <a:t>Would</a:t>
            </a:r>
            <a:r>
              <a:rPr dirty="0" sz="1200" spc="3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200" b="1">
                <a:solidFill>
                  <a:srgbClr val="111826"/>
                </a:solidFill>
                <a:latin typeface="Gadugi"/>
                <a:cs typeface="Gadugi"/>
              </a:rPr>
              <a:t>Be</a:t>
            </a:r>
            <a:r>
              <a:rPr dirty="0" sz="1200" spc="25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200" spc="-10" b="1">
                <a:solidFill>
                  <a:srgbClr val="111826"/>
                </a:solidFill>
                <a:latin typeface="Gadugi"/>
                <a:cs typeface="Gadugi"/>
              </a:rPr>
              <a:t>Built:</a:t>
            </a:r>
            <a:endParaRPr sz="1200">
              <a:latin typeface="Gadugi"/>
              <a:cs typeface="Gadugi"/>
            </a:endParaRPr>
          </a:p>
          <a:p>
            <a:pPr marL="3183890" marR="5080" indent="-2949575">
              <a:lnSpc>
                <a:spcPct val="102499"/>
              </a:lnSpc>
              <a:spcBef>
                <a:spcPts val="735"/>
              </a:spcBef>
            </a:pP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Scheduled</a:t>
            </a:r>
            <a:r>
              <a:rPr dirty="0" sz="1200" spc="7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Python</a:t>
            </a:r>
            <a:r>
              <a:rPr dirty="0" sz="1200" spc="3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script</a:t>
            </a:r>
            <a:r>
              <a:rPr dirty="0" sz="1200" spc="4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(APScheduler)</a:t>
            </a:r>
            <a:r>
              <a:rPr dirty="0" sz="1200" spc="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runs</a:t>
            </a:r>
            <a:r>
              <a:rPr dirty="0" sz="1200" spc="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daily</a:t>
            </a:r>
            <a:r>
              <a:rPr dirty="0" sz="1200" spc="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at</a:t>
            </a:r>
            <a:r>
              <a:rPr dirty="0" sz="1200" spc="6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8</a:t>
            </a:r>
            <a:r>
              <a:rPr dirty="0" sz="1200" spc="5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AM</a:t>
            </a:r>
            <a:r>
              <a:rPr dirty="0" sz="1200" spc="3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→</a:t>
            </a:r>
            <a:r>
              <a:rPr dirty="0" sz="1200" spc="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Queries</a:t>
            </a:r>
            <a:r>
              <a:rPr dirty="0" sz="1200" spc="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database</a:t>
            </a:r>
            <a:r>
              <a:rPr dirty="0" sz="1200" spc="5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for</a:t>
            </a:r>
            <a:r>
              <a:rPr dirty="0" sz="1200" spc="4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items</a:t>
            </a:r>
            <a:r>
              <a:rPr dirty="0" sz="1200" spc="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due</a:t>
            </a:r>
            <a:r>
              <a:rPr dirty="0" sz="1200" spc="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within</a:t>
            </a:r>
            <a:r>
              <a:rPr dirty="0" sz="1200" spc="5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7</a:t>
            </a:r>
            <a:r>
              <a:rPr dirty="0" sz="1200" spc="5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days</a:t>
            </a:r>
            <a:r>
              <a:rPr dirty="0" sz="1200" spc="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→</a:t>
            </a:r>
            <a:r>
              <a:rPr dirty="0" sz="1200" spc="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Sends</a:t>
            </a:r>
            <a:r>
              <a:rPr dirty="0" sz="1200" spc="5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6B7280"/>
                </a:solidFill>
                <a:latin typeface="Segoe UI"/>
                <a:cs typeface="Segoe UI"/>
              </a:rPr>
              <a:t>formatted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HTML</a:t>
            </a:r>
            <a:r>
              <a:rPr dirty="0" sz="1200" spc="4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emails</a:t>
            </a:r>
            <a:r>
              <a:rPr dirty="0" sz="1200" spc="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via</a:t>
            </a:r>
            <a:r>
              <a:rPr dirty="0" sz="1200" spc="5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SMTP</a:t>
            </a:r>
            <a:r>
              <a:rPr dirty="0" sz="1200" spc="3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→</a:t>
            </a:r>
            <a:r>
              <a:rPr dirty="0" sz="1200" spc="6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Logs</a:t>
            </a:r>
            <a:r>
              <a:rPr dirty="0" sz="1200" spc="4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B7280"/>
                </a:solidFill>
                <a:latin typeface="Segoe UI"/>
                <a:cs typeface="Segoe UI"/>
              </a:rPr>
              <a:t>all</a:t>
            </a:r>
            <a:r>
              <a:rPr dirty="0" sz="1200" spc="5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6B7280"/>
                </a:solidFill>
                <a:latin typeface="Segoe UI"/>
                <a:cs typeface="Segoe UI"/>
              </a:rPr>
              <a:t>alerts</a:t>
            </a:r>
            <a:endParaRPr sz="1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34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8924" y="1927175"/>
            <a:ext cx="9311640" cy="1107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10" b="1">
                <a:solidFill>
                  <a:srgbClr val="111826"/>
                </a:solidFill>
                <a:latin typeface="Gadugi"/>
                <a:cs typeface="Gadugi"/>
              </a:rPr>
              <a:t>Summary</a:t>
            </a:r>
            <a:endParaRPr sz="1750">
              <a:latin typeface="Gadugi"/>
              <a:cs typeface="Gadugi"/>
            </a:endParaRPr>
          </a:p>
          <a:p>
            <a:pPr marL="12700" marR="5080">
              <a:lnSpc>
                <a:spcPct val="102699"/>
              </a:lnSpc>
              <a:spcBef>
                <a:spcPts val="1045"/>
              </a:spcBef>
            </a:pP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The</a:t>
            </a:r>
            <a:r>
              <a:rPr dirty="0" sz="145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Fire</a:t>
            </a:r>
            <a:r>
              <a:rPr dirty="0" sz="145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Safety</a:t>
            </a:r>
            <a:r>
              <a:rPr dirty="0" sz="145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Equipment</a:t>
            </a:r>
            <a:r>
              <a:rPr dirty="0" sz="145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Inspection</a:t>
            </a:r>
            <a:r>
              <a:rPr dirty="0" sz="145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and</a:t>
            </a:r>
            <a:r>
              <a:rPr dirty="0" sz="145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Expiry</a:t>
            </a:r>
            <a:r>
              <a:rPr dirty="0" sz="145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Register</a:t>
            </a:r>
            <a:r>
              <a:rPr dirty="0" sz="145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replaces</a:t>
            </a:r>
            <a:r>
              <a:rPr dirty="0" sz="145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unreliable</a:t>
            </a:r>
            <a:r>
              <a:rPr dirty="0" sz="145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paper</a:t>
            </a:r>
            <a:r>
              <a:rPr dirty="0" sz="145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tags</a:t>
            </a:r>
            <a:r>
              <a:rPr dirty="0" sz="145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with</a:t>
            </a:r>
            <a:r>
              <a:rPr dirty="0" sz="145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a</a:t>
            </a:r>
            <a:r>
              <a:rPr dirty="0" sz="145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 spc="-10">
                <a:solidFill>
                  <a:srgbClr val="111826"/>
                </a:solidFill>
                <a:latin typeface="Segoe UI"/>
                <a:cs typeface="Segoe UI"/>
              </a:rPr>
              <a:t>centralized,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searchable,</a:t>
            </a:r>
            <a:r>
              <a:rPr dirty="0" sz="145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and</a:t>
            </a:r>
            <a:r>
              <a:rPr dirty="0" sz="145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predictive</a:t>
            </a:r>
            <a:r>
              <a:rPr dirty="0" sz="145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digital</a:t>
            </a:r>
            <a:r>
              <a:rPr dirty="0" sz="145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system.</a:t>
            </a:r>
            <a:r>
              <a:rPr dirty="0" sz="1450" spc="8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Every</a:t>
            </a:r>
            <a:r>
              <a:rPr dirty="0" sz="145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unit</a:t>
            </a:r>
            <a:r>
              <a:rPr dirty="0" sz="145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is</a:t>
            </a:r>
            <a:r>
              <a:rPr dirty="0" sz="145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tracked,</a:t>
            </a:r>
            <a:r>
              <a:rPr dirty="0" sz="145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every</a:t>
            </a:r>
            <a:r>
              <a:rPr dirty="0" sz="145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inspection</a:t>
            </a:r>
            <a:r>
              <a:rPr dirty="0" sz="145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is</a:t>
            </a:r>
            <a:r>
              <a:rPr dirty="0" sz="145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recorded</a:t>
            </a:r>
            <a:r>
              <a:rPr dirty="0" sz="145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with</a:t>
            </a:r>
            <a:r>
              <a:rPr dirty="0" sz="145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full</a:t>
            </a:r>
            <a:r>
              <a:rPr dirty="0" sz="145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history,</a:t>
            </a:r>
            <a:r>
              <a:rPr dirty="0" sz="145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 spc="-25">
                <a:solidFill>
                  <a:srgbClr val="111826"/>
                </a:solidFill>
                <a:latin typeface="Segoe UI"/>
                <a:cs typeface="Segoe UI"/>
              </a:rPr>
              <a:t>and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the</a:t>
            </a:r>
            <a:r>
              <a:rPr dirty="0" sz="1450" spc="6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safety</a:t>
            </a:r>
            <a:r>
              <a:rPr dirty="0" sz="145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officer</a:t>
            </a:r>
            <a:r>
              <a:rPr dirty="0" sz="1450" spc="6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knows</a:t>
            </a:r>
            <a:r>
              <a:rPr dirty="0" sz="1450" spc="6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exactly</a:t>
            </a:r>
            <a:r>
              <a:rPr dirty="0" sz="145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what</a:t>
            </a:r>
            <a:r>
              <a:rPr dirty="0" sz="145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needs</a:t>
            </a:r>
            <a:r>
              <a:rPr dirty="0" sz="145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attention</a:t>
            </a:r>
            <a:r>
              <a:rPr dirty="0" sz="145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—</a:t>
            </a:r>
            <a:r>
              <a:rPr dirty="0" sz="145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before</a:t>
            </a:r>
            <a:r>
              <a:rPr dirty="0" sz="145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it</a:t>
            </a:r>
            <a:r>
              <a:rPr dirty="0" sz="1450" spc="6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becomes</a:t>
            </a:r>
            <a:r>
              <a:rPr dirty="0" sz="145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>
                <a:solidFill>
                  <a:srgbClr val="111826"/>
                </a:solidFill>
                <a:latin typeface="Segoe UI"/>
                <a:cs typeface="Segoe UI"/>
              </a:rPr>
              <a:t>a</a:t>
            </a:r>
            <a:r>
              <a:rPr dirty="0" sz="145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450" spc="-10">
                <a:solidFill>
                  <a:srgbClr val="111826"/>
                </a:solidFill>
                <a:latin typeface="Segoe UI"/>
                <a:cs typeface="Segoe UI"/>
              </a:rPr>
              <a:t>problem.</a:t>
            </a:r>
            <a:endParaRPr sz="14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0812" y="3409188"/>
            <a:ext cx="9862185" cy="1603375"/>
          </a:xfrm>
          <a:prstGeom prst="rect">
            <a:avLst/>
          </a:prstGeom>
          <a:solidFill>
            <a:srgbClr val="F2F4F6"/>
          </a:solidFill>
        </p:spPr>
        <p:txBody>
          <a:bodyPr wrap="square" lIns="0" tIns="53340" rIns="0" bIns="0" rtlCol="0" vert="horz">
            <a:spAutoFit/>
          </a:bodyPr>
          <a:lstStyle/>
          <a:p>
            <a:pPr marL="321310">
              <a:lnSpc>
                <a:spcPct val="100000"/>
              </a:lnSpc>
              <a:spcBef>
                <a:spcPts val="420"/>
              </a:spcBef>
            </a:pPr>
            <a:r>
              <a:rPr dirty="0" sz="1400" b="1">
                <a:solidFill>
                  <a:srgbClr val="111826"/>
                </a:solidFill>
                <a:latin typeface="Gadugi"/>
                <a:cs typeface="Gadugi"/>
              </a:rPr>
              <a:t>Key</a:t>
            </a:r>
            <a:r>
              <a:rPr dirty="0" sz="1400" spc="-6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1400" spc="-10" b="1">
                <a:solidFill>
                  <a:srgbClr val="111826"/>
                </a:solidFill>
                <a:latin typeface="Gadugi"/>
                <a:cs typeface="Gadugi"/>
              </a:rPr>
              <a:t>Achievements:</a:t>
            </a:r>
            <a:endParaRPr sz="1400">
              <a:latin typeface="Gadugi"/>
              <a:cs typeface="Gadugi"/>
            </a:endParaRPr>
          </a:p>
          <a:p>
            <a:pPr marL="467359" indent="-146050">
              <a:lnSpc>
                <a:spcPct val="100000"/>
              </a:lnSpc>
              <a:spcBef>
                <a:spcPts val="875"/>
              </a:spcBef>
              <a:buChar char="•"/>
              <a:tabLst>
                <a:tab pos="467359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80</a:t>
            </a:r>
            <a:r>
              <a:rPr dirty="0" sz="1200" spc="4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equipment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units</a:t>
            </a:r>
            <a:r>
              <a:rPr dirty="0" sz="12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registered</a:t>
            </a:r>
            <a:r>
              <a:rPr dirty="0" sz="1200" spc="3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across</a:t>
            </a:r>
            <a:r>
              <a:rPr dirty="0" sz="1200" spc="2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4</a:t>
            </a:r>
            <a:r>
              <a:rPr dirty="0" sz="120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buildings</a:t>
            </a:r>
            <a:endParaRPr sz="1200">
              <a:latin typeface="Segoe UI"/>
              <a:cs typeface="Segoe UI"/>
            </a:endParaRPr>
          </a:p>
          <a:p>
            <a:pPr marL="467359" indent="-146050">
              <a:lnSpc>
                <a:spcPct val="100000"/>
              </a:lnSpc>
              <a:spcBef>
                <a:spcPts val="550"/>
              </a:spcBef>
              <a:buChar char="•"/>
              <a:tabLst>
                <a:tab pos="467359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~400</a:t>
            </a:r>
            <a:r>
              <a:rPr dirty="0" sz="1200" spc="4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inspection</a:t>
            </a:r>
            <a:r>
              <a:rPr dirty="0" sz="12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records</a:t>
            </a:r>
            <a:r>
              <a:rPr dirty="0" sz="1200" spc="6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with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realistic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delay</a:t>
            </a:r>
            <a:r>
              <a:rPr dirty="0" sz="1200" spc="6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and</a:t>
            </a:r>
            <a:r>
              <a:rPr dirty="0" sz="1200" spc="6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failure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patterns</a:t>
            </a:r>
            <a:endParaRPr sz="1200">
              <a:latin typeface="Segoe UI"/>
              <a:cs typeface="Segoe UI"/>
            </a:endParaRPr>
          </a:p>
          <a:p>
            <a:pPr marL="467359" indent="-146050">
              <a:lnSpc>
                <a:spcPct val="100000"/>
              </a:lnSpc>
              <a:spcBef>
                <a:spcPts val="565"/>
              </a:spcBef>
              <a:buChar char="•"/>
              <a:tabLst>
                <a:tab pos="467359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Machine</a:t>
            </a:r>
            <a:r>
              <a:rPr dirty="0" sz="1200" spc="7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learning</a:t>
            </a:r>
            <a:r>
              <a:rPr dirty="0" sz="120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model</a:t>
            </a:r>
            <a:r>
              <a:rPr dirty="0" sz="120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predicting</a:t>
            </a:r>
            <a:r>
              <a:rPr dirty="0" sz="1200" spc="9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at-risk</a:t>
            </a:r>
            <a:r>
              <a:rPr dirty="0" sz="120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equipment</a:t>
            </a:r>
            <a:r>
              <a:rPr dirty="0" sz="120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with</a:t>
            </a:r>
            <a:r>
              <a:rPr dirty="0" sz="120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confidence</a:t>
            </a:r>
            <a:r>
              <a:rPr dirty="0" sz="1200" spc="6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scores</a:t>
            </a:r>
            <a:endParaRPr sz="1200">
              <a:latin typeface="Segoe UI"/>
              <a:cs typeface="Segoe UI"/>
            </a:endParaRPr>
          </a:p>
          <a:p>
            <a:pPr marL="467359" indent="-146050">
              <a:lnSpc>
                <a:spcPct val="100000"/>
              </a:lnSpc>
              <a:spcBef>
                <a:spcPts val="565"/>
              </a:spcBef>
              <a:buChar char="•"/>
              <a:tabLst>
                <a:tab pos="467359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Zero</a:t>
            </a:r>
            <a:r>
              <a:rPr dirty="0" sz="120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overwritten</a:t>
            </a:r>
            <a:r>
              <a:rPr dirty="0" sz="1200" spc="5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columns</a:t>
            </a:r>
            <a:r>
              <a:rPr dirty="0" sz="120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—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complete</a:t>
            </a:r>
            <a:r>
              <a:rPr dirty="0" sz="1200" spc="7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audit</a:t>
            </a:r>
            <a:r>
              <a:rPr dirty="0" sz="1200" spc="5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trail</a:t>
            </a:r>
            <a:r>
              <a:rPr dirty="0" sz="1200" spc="6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preserved</a:t>
            </a:r>
            <a:endParaRPr sz="1200">
              <a:latin typeface="Segoe UI"/>
              <a:cs typeface="Segoe UI"/>
            </a:endParaRPr>
          </a:p>
          <a:p>
            <a:pPr marL="467359" indent="-146050">
              <a:lnSpc>
                <a:spcPct val="100000"/>
              </a:lnSpc>
              <a:spcBef>
                <a:spcPts val="550"/>
              </a:spcBef>
              <a:buChar char="•"/>
              <a:tabLst>
                <a:tab pos="467359" algn="l"/>
              </a:tabLst>
            </a:pP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Server-side</a:t>
            </a:r>
            <a:r>
              <a:rPr dirty="0" sz="1200" spc="9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validation</a:t>
            </a:r>
            <a:r>
              <a:rPr dirty="0" sz="1200" spc="65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ensuring</a:t>
            </a:r>
            <a:r>
              <a:rPr dirty="0" sz="120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11826"/>
                </a:solidFill>
                <a:latin typeface="Segoe UI"/>
                <a:cs typeface="Segoe UI"/>
              </a:rPr>
              <a:t>data</a:t>
            </a:r>
            <a:r>
              <a:rPr dirty="0" sz="1200" spc="80">
                <a:solidFill>
                  <a:srgbClr val="111826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111826"/>
                </a:solidFill>
                <a:latin typeface="Segoe UI"/>
                <a:cs typeface="Segoe UI"/>
              </a:rPr>
              <a:t>integrity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688" y="5135217"/>
            <a:ext cx="8881110" cy="1360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solidFill>
                  <a:srgbClr val="2462EB"/>
                </a:solidFill>
                <a:latin typeface="Gadugi"/>
                <a:cs typeface="Gadugi"/>
              </a:rPr>
              <a:t>"A</a:t>
            </a:r>
            <a:r>
              <a:rPr dirty="0" sz="1750" spc="-55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750" b="1">
                <a:solidFill>
                  <a:srgbClr val="2462EB"/>
                </a:solidFill>
                <a:latin typeface="Gadugi"/>
                <a:cs typeface="Gadugi"/>
              </a:rPr>
              <a:t>simple</a:t>
            </a:r>
            <a:r>
              <a:rPr dirty="0" sz="1750" spc="-50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750" b="1">
                <a:solidFill>
                  <a:srgbClr val="2462EB"/>
                </a:solidFill>
                <a:latin typeface="Gadugi"/>
                <a:cs typeface="Gadugi"/>
              </a:rPr>
              <a:t>digital</a:t>
            </a:r>
            <a:r>
              <a:rPr dirty="0" sz="1750" spc="-55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750" b="1">
                <a:solidFill>
                  <a:srgbClr val="2462EB"/>
                </a:solidFill>
                <a:latin typeface="Gadugi"/>
                <a:cs typeface="Gadugi"/>
              </a:rPr>
              <a:t>register</a:t>
            </a:r>
            <a:r>
              <a:rPr dirty="0" sz="1750" spc="-50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750" b="1">
                <a:solidFill>
                  <a:srgbClr val="2462EB"/>
                </a:solidFill>
                <a:latin typeface="Gadugi"/>
                <a:cs typeface="Gadugi"/>
              </a:rPr>
              <a:t>that</a:t>
            </a:r>
            <a:r>
              <a:rPr dirty="0" sz="1750" spc="-45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750" b="1">
                <a:solidFill>
                  <a:srgbClr val="2462EB"/>
                </a:solidFill>
                <a:latin typeface="Gadugi"/>
                <a:cs typeface="Gadugi"/>
              </a:rPr>
              <a:t>keeps</a:t>
            </a:r>
            <a:r>
              <a:rPr dirty="0" sz="1750" spc="-35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750" b="1">
                <a:solidFill>
                  <a:srgbClr val="2462EB"/>
                </a:solidFill>
                <a:latin typeface="Gadugi"/>
                <a:cs typeface="Gadugi"/>
              </a:rPr>
              <a:t>every</a:t>
            </a:r>
            <a:r>
              <a:rPr dirty="0" sz="1750" spc="-25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750" b="1">
                <a:solidFill>
                  <a:srgbClr val="2462EB"/>
                </a:solidFill>
                <a:latin typeface="Gadugi"/>
                <a:cs typeface="Gadugi"/>
              </a:rPr>
              <a:t>safety</a:t>
            </a:r>
            <a:r>
              <a:rPr dirty="0" sz="1750" spc="-50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750" b="1">
                <a:solidFill>
                  <a:srgbClr val="2462EB"/>
                </a:solidFill>
                <a:latin typeface="Gadugi"/>
                <a:cs typeface="Gadugi"/>
              </a:rPr>
              <a:t>unit</a:t>
            </a:r>
            <a:r>
              <a:rPr dirty="0" sz="1750" spc="-30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750" b="1">
                <a:solidFill>
                  <a:srgbClr val="2462EB"/>
                </a:solidFill>
                <a:latin typeface="Gadugi"/>
                <a:cs typeface="Gadugi"/>
              </a:rPr>
              <a:t>tracked,</a:t>
            </a:r>
            <a:r>
              <a:rPr dirty="0" sz="1750" spc="-35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750" b="1">
                <a:solidFill>
                  <a:srgbClr val="2462EB"/>
                </a:solidFill>
                <a:latin typeface="Gadugi"/>
                <a:cs typeface="Gadugi"/>
              </a:rPr>
              <a:t>inspected,</a:t>
            </a:r>
            <a:r>
              <a:rPr dirty="0" sz="1750" spc="-50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750" b="1">
                <a:solidFill>
                  <a:srgbClr val="2462EB"/>
                </a:solidFill>
                <a:latin typeface="Gadugi"/>
                <a:cs typeface="Gadugi"/>
              </a:rPr>
              <a:t>and</a:t>
            </a:r>
            <a:r>
              <a:rPr dirty="0" sz="1750" spc="-45" b="1">
                <a:solidFill>
                  <a:srgbClr val="2462EB"/>
                </a:solidFill>
                <a:latin typeface="Gadugi"/>
                <a:cs typeface="Gadugi"/>
              </a:rPr>
              <a:t> </a:t>
            </a:r>
            <a:r>
              <a:rPr dirty="0" sz="1750" spc="-10" b="1">
                <a:solidFill>
                  <a:srgbClr val="2462EB"/>
                </a:solidFill>
                <a:latin typeface="Gadugi"/>
                <a:cs typeface="Gadugi"/>
              </a:rPr>
              <a:t>ready."</a:t>
            </a:r>
            <a:endParaRPr sz="175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Gadugi"/>
              <a:cs typeface="Gadugi"/>
            </a:endParaRPr>
          </a:p>
          <a:p>
            <a:pPr algn="ctr">
              <a:lnSpc>
                <a:spcPct val="100000"/>
              </a:lnSpc>
            </a:pPr>
            <a:r>
              <a:rPr dirty="0" sz="3150" b="1">
                <a:solidFill>
                  <a:srgbClr val="111826"/>
                </a:solidFill>
                <a:latin typeface="Gadugi"/>
                <a:cs typeface="Gadugi"/>
              </a:rPr>
              <a:t>THANK</a:t>
            </a:r>
            <a:r>
              <a:rPr dirty="0" sz="3150" spc="-50" b="1">
                <a:solidFill>
                  <a:srgbClr val="111826"/>
                </a:solidFill>
                <a:latin typeface="Gadugi"/>
                <a:cs typeface="Gadugi"/>
              </a:rPr>
              <a:t> </a:t>
            </a:r>
            <a:r>
              <a:rPr dirty="0" sz="3150" spc="-25" b="1">
                <a:solidFill>
                  <a:srgbClr val="111826"/>
                </a:solidFill>
                <a:latin typeface="Gadugi"/>
                <a:cs typeface="Gadugi"/>
              </a:rPr>
              <a:t>YOU</a:t>
            </a:r>
            <a:endParaRPr sz="3150">
              <a:latin typeface="Gadugi"/>
              <a:cs typeface="Gadugi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Gowtham</a:t>
            </a:r>
            <a:r>
              <a:rPr dirty="0" sz="1400" spc="36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|</a:t>
            </a:r>
            <a:r>
              <a:rPr dirty="0" sz="1400" spc="37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Reg:</a:t>
            </a:r>
            <a:r>
              <a:rPr dirty="0" sz="1400" spc="-2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411723205012</a:t>
            </a:r>
            <a:r>
              <a:rPr dirty="0" sz="1400" spc="37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|</a:t>
            </a:r>
            <a:r>
              <a:rPr dirty="0" sz="1400" spc="37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PSVPEC</a:t>
            </a:r>
            <a:r>
              <a:rPr dirty="0" sz="1400" spc="-1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IT</a:t>
            </a:r>
            <a:r>
              <a:rPr dirty="0" sz="1400" spc="35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|</a:t>
            </a:r>
            <a:r>
              <a:rPr dirty="0" sz="1400" spc="380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6B7280"/>
                </a:solidFill>
                <a:latin typeface="Segoe UI"/>
                <a:cs typeface="Segoe UI"/>
              </a:rPr>
              <a:t>SIH</a:t>
            </a:r>
            <a:r>
              <a:rPr dirty="0" sz="1400" spc="-5">
                <a:solidFill>
                  <a:srgbClr val="6B7280"/>
                </a:solidFill>
                <a:latin typeface="Segoe UI"/>
                <a:cs typeface="Segoe UI"/>
              </a:rPr>
              <a:t> </a:t>
            </a:r>
            <a:r>
              <a:rPr dirty="0" sz="1400" spc="-20">
                <a:solidFill>
                  <a:srgbClr val="6B7280"/>
                </a:solidFill>
                <a:latin typeface="Segoe UI"/>
                <a:cs typeface="Segoe UI"/>
              </a:rPr>
              <a:t>2026</a:t>
            </a:r>
            <a:endParaRPr sz="1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Gowtham S</dc:creator>
  <dc:title>presentation_1785083532369.pptx</dc:title>
  <dcterms:created xsi:type="dcterms:W3CDTF">2026-07-26T16:34:35Z</dcterms:created>
  <dcterms:modified xsi:type="dcterms:W3CDTF">2026-07-26T16:34:35Z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2026-07-26T00:00:00Z</vt:filetime>
  </property>
  <property fmtid="{D5CDD505-2E9C-101B-9397-08002B2CF9AE}" pid="4" name="LastSaved">
    <vt:filetime>2026-07-26T00:00:00Z</vt:filetime>
  </property>
  <property fmtid="{D5CDD505-2E9C-101B-9397-08002B2CF9AE}" pid="5" name="Producer">
    <vt:lpwstr>Microsoft: Print To PDF</vt:lpwstr>
  </property>
</Properties>
</file>